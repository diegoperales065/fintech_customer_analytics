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8288000" cy="10287000"/>
  <p:notesSz cx="6858000" cy="9144000"/>
  <p:embeddedFontLst>
    <p:embeddedFont>
      <p:font typeface="Open Sans" panose="020B0606030504020204" pitchFamily="34" charset="0"/>
      <p:regular r:id="rId46"/>
    </p:embeddedFont>
    <p:embeddedFont>
      <p:font typeface="Open Sans Bold" panose="020B0604020202020204" charset="0"/>
      <p:regular r:id="rId47"/>
    </p:embeddedFont>
    <p:embeddedFont>
      <p:font typeface="Poppins" panose="00000500000000000000" pitchFamily="2" charset="0"/>
      <p:regular r:id="rId48"/>
    </p:embeddedFont>
    <p:embeddedFont>
      <p:font typeface="Poppins Bold" panose="020B0604020202020204" charset="0"/>
      <p:regular r:id="rId49"/>
    </p:embeddedFont>
    <p:embeddedFont>
      <p:font typeface="Poppins Semi-Bold" panose="020B0604020202020204" charset="0"/>
      <p:regular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hyperlink" Target="https://diegoperales065.github.io/marketing_analysis_fintech/" TargetMode="External"/><Relationship Id="rId4" Type="http://schemas.openxmlformats.org/officeDocument/2006/relationships/image" Target="../media/image18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ookerstudio.google.com/s/ideTN2PLL-A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sv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12A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05372"/>
            <a:ext cx="7786379" cy="2519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1"/>
              </a:lnSpc>
            </a:pPr>
            <a:r>
              <a:rPr lang="en-US" sz="1073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DATA ANALYTICS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5845060"/>
            <a:ext cx="7282334" cy="11028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08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MARKETING ANALYTICS PARA UNA EMPRESA FINTECH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554161" y="489089"/>
            <a:ext cx="2705100" cy="54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final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98890" y="8702112"/>
            <a:ext cx="13660410" cy="74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Jesús Zapata, Diego Perales, </a:t>
            </a:r>
          </a:p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Lizbeth Hernández , Lucía Moreno , Mónica Romero </a:t>
            </a:r>
          </a:p>
        </p:txBody>
      </p:sp>
      <p:sp>
        <p:nvSpPr>
          <p:cNvPr id="6" name="Freeform 6"/>
          <p:cNvSpPr/>
          <p:nvPr/>
        </p:nvSpPr>
        <p:spPr>
          <a:xfrm>
            <a:off x="1028700" y="549353"/>
            <a:ext cx="1166101" cy="1168225"/>
          </a:xfrm>
          <a:custGeom>
            <a:avLst/>
            <a:gdLst/>
            <a:ahLst/>
            <a:cxnLst/>
            <a:rect l="l" t="t" r="r" b="b"/>
            <a:pathLst>
              <a:path w="1166101" h="1168225">
                <a:moveTo>
                  <a:pt x="0" y="0"/>
                </a:moveTo>
                <a:lnTo>
                  <a:pt x="1166101" y="0"/>
                </a:lnTo>
                <a:lnTo>
                  <a:pt x="1166101" y="1168225"/>
                </a:lnTo>
                <a:lnTo>
                  <a:pt x="0" y="11682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40475" y="2662712"/>
            <a:ext cx="13466236" cy="6184418"/>
            <a:chOff x="0" y="0"/>
            <a:chExt cx="3546663" cy="16288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46663" cy="1628818"/>
            </a:xfrm>
            <a:custGeom>
              <a:avLst/>
              <a:gdLst/>
              <a:ahLst/>
              <a:cxnLst/>
              <a:rect l="l" t="t" r="r" b="b"/>
              <a:pathLst>
                <a:path w="3546663" h="1628818">
                  <a:moveTo>
                    <a:pt x="29321" y="0"/>
                  </a:moveTo>
                  <a:lnTo>
                    <a:pt x="3517342" y="0"/>
                  </a:lnTo>
                  <a:cubicBezTo>
                    <a:pt x="3525119" y="0"/>
                    <a:pt x="3532577" y="3089"/>
                    <a:pt x="3538075" y="8588"/>
                  </a:cubicBezTo>
                  <a:cubicBezTo>
                    <a:pt x="3543574" y="14086"/>
                    <a:pt x="3546663" y="21544"/>
                    <a:pt x="3546663" y="29321"/>
                  </a:cubicBezTo>
                  <a:lnTo>
                    <a:pt x="3546663" y="1599497"/>
                  </a:lnTo>
                  <a:cubicBezTo>
                    <a:pt x="3546663" y="1607274"/>
                    <a:pt x="3543574" y="1614731"/>
                    <a:pt x="3538075" y="1620230"/>
                  </a:cubicBezTo>
                  <a:cubicBezTo>
                    <a:pt x="3532577" y="1625729"/>
                    <a:pt x="3525119" y="1628818"/>
                    <a:pt x="3517342" y="1628818"/>
                  </a:cubicBezTo>
                  <a:lnTo>
                    <a:pt x="29321" y="1628818"/>
                  </a:lnTo>
                  <a:cubicBezTo>
                    <a:pt x="21544" y="1628818"/>
                    <a:pt x="14086" y="1625729"/>
                    <a:pt x="8588" y="1620230"/>
                  </a:cubicBezTo>
                  <a:cubicBezTo>
                    <a:pt x="3089" y="1614731"/>
                    <a:pt x="0" y="1607274"/>
                    <a:pt x="0" y="1599497"/>
                  </a:cubicBezTo>
                  <a:lnTo>
                    <a:pt x="0" y="29321"/>
                  </a:lnTo>
                  <a:cubicBezTo>
                    <a:pt x="0" y="21544"/>
                    <a:pt x="3089" y="14086"/>
                    <a:pt x="8588" y="8588"/>
                  </a:cubicBezTo>
                  <a:cubicBezTo>
                    <a:pt x="14086" y="3089"/>
                    <a:pt x="21544" y="0"/>
                    <a:pt x="29321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46663" cy="16669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10316" y="3428668"/>
            <a:ext cx="10813185" cy="450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96878" lvl="1" indent="-548439" algn="l">
              <a:lnSpc>
                <a:spcPts val="7112"/>
              </a:lnSpc>
              <a:buAutoNum type="arabicPeriod"/>
            </a:pPr>
            <a:r>
              <a:rPr lang="en-US" sz="508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Introducción</a:t>
            </a:r>
          </a:p>
          <a:p>
            <a:pPr marL="1096878" lvl="1" indent="-548439" algn="l">
              <a:lnSpc>
                <a:spcPts val="7112"/>
              </a:lnSpc>
              <a:buAutoNum type="arabicPeriod"/>
            </a:pPr>
            <a:r>
              <a:rPr lang="en-US" sz="508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Análisis EDA</a:t>
            </a:r>
          </a:p>
          <a:p>
            <a:pPr marL="1096878" lvl="1" indent="-548439" algn="l">
              <a:lnSpc>
                <a:spcPts val="7112"/>
              </a:lnSpc>
              <a:buAutoNum type="arabicPeriod"/>
            </a:pPr>
            <a:r>
              <a:rPr lang="en-US" sz="508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Modelo predictivo</a:t>
            </a:r>
          </a:p>
          <a:p>
            <a:pPr marL="1096878" lvl="1" indent="-548439" algn="l">
              <a:lnSpc>
                <a:spcPts val="7112"/>
              </a:lnSpc>
              <a:buAutoNum type="arabicPeriod"/>
            </a:pPr>
            <a:r>
              <a:rPr lang="en-US" sz="508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Dashboard</a:t>
            </a:r>
          </a:p>
          <a:p>
            <a:pPr marL="1096878" lvl="1" indent="-548439" algn="l">
              <a:lnSpc>
                <a:spcPts val="7112"/>
              </a:lnSpc>
              <a:buAutoNum type="arabicPeriod"/>
            </a:pPr>
            <a:r>
              <a:rPr lang="en-US" sz="5080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Recomendaciones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58932"/>
            <a:ext cx="7786379" cy="1376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21"/>
              </a:lnSpc>
            </a:pPr>
            <a:r>
              <a:rPr lang="en-US" sz="10739" b="1">
                <a:solidFill>
                  <a:srgbClr val="512AD5"/>
                </a:solidFill>
                <a:latin typeface="Poppins Bold"/>
                <a:ea typeface="Poppins Bold"/>
                <a:cs typeface="Poppins Bold"/>
                <a:sym typeface="Poppins Bold"/>
              </a:rPr>
              <a:t>ÍNDICE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554122" y="489089"/>
            <a:ext cx="2705178" cy="539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512AD5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40475" y="3477524"/>
            <a:ext cx="13466236" cy="3604180"/>
            <a:chOff x="0" y="0"/>
            <a:chExt cx="3546663" cy="9492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46663" cy="949249"/>
            </a:xfrm>
            <a:custGeom>
              <a:avLst/>
              <a:gdLst/>
              <a:ahLst/>
              <a:cxnLst/>
              <a:rect l="l" t="t" r="r" b="b"/>
              <a:pathLst>
                <a:path w="3546663" h="949249">
                  <a:moveTo>
                    <a:pt x="29321" y="0"/>
                  </a:moveTo>
                  <a:lnTo>
                    <a:pt x="3517342" y="0"/>
                  </a:lnTo>
                  <a:cubicBezTo>
                    <a:pt x="3525119" y="0"/>
                    <a:pt x="3532577" y="3089"/>
                    <a:pt x="3538075" y="8588"/>
                  </a:cubicBezTo>
                  <a:cubicBezTo>
                    <a:pt x="3543574" y="14086"/>
                    <a:pt x="3546663" y="21544"/>
                    <a:pt x="3546663" y="29321"/>
                  </a:cubicBezTo>
                  <a:lnTo>
                    <a:pt x="3546663" y="919929"/>
                  </a:lnTo>
                  <a:cubicBezTo>
                    <a:pt x="3546663" y="927705"/>
                    <a:pt x="3543574" y="935163"/>
                    <a:pt x="3538075" y="940661"/>
                  </a:cubicBezTo>
                  <a:cubicBezTo>
                    <a:pt x="3532577" y="946160"/>
                    <a:pt x="3525119" y="949249"/>
                    <a:pt x="3517342" y="949249"/>
                  </a:cubicBezTo>
                  <a:lnTo>
                    <a:pt x="29321" y="949249"/>
                  </a:lnTo>
                  <a:cubicBezTo>
                    <a:pt x="21544" y="949249"/>
                    <a:pt x="14086" y="946160"/>
                    <a:pt x="8588" y="940661"/>
                  </a:cubicBezTo>
                  <a:cubicBezTo>
                    <a:pt x="3089" y="935163"/>
                    <a:pt x="0" y="927705"/>
                    <a:pt x="0" y="919929"/>
                  </a:cubicBezTo>
                  <a:lnTo>
                    <a:pt x="0" y="29321"/>
                  </a:lnTo>
                  <a:cubicBezTo>
                    <a:pt x="0" y="21544"/>
                    <a:pt x="3089" y="14086"/>
                    <a:pt x="8588" y="8588"/>
                  </a:cubicBezTo>
                  <a:cubicBezTo>
                    <a:pt x="14086" y="3089"/>
                    <a:pt x="21544" y="0"/>
                    <a:pt x="29321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46663" cy="987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028700" y="549353"/>
            <a:ext cx="1166101" cy="1168225"/>
          </a:xfrm>
          <a:custGeom>
            <a:avLst/>
            <a:gdLst/>
            <a:ahLst/>
            <a:cxnLst/>
            <a:rect l="l" t="t" r="r" b="b"/>
            <a:pathLst>
              <a:path w="1166101" h="1168225">
                <a:moveTo>
                  <a:pt x="0" y="0"/>
                </a:moveTo>
                <a:lnTo>
                  <a:pt x="1166101" y="0"/>
                </a:lnTo>
                <a:lnTo>
                  <a:pt x="1166101" y="1168225"/>
                </a:lnTo>
                <a:lnTo>
                  <a:pt x="0" y="11682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TextBox 6"/>
          <p:cNvSpPr txBox="1"/>
          <p:nvPr/>
        </p:nvSpPr>
        <p:spPr>
          <a:xfrm>
            <a:off x="6036452" y="4277195"/>
            <a:ext cx="7908148" cy="15611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</a:t>
            </a:r>
            <a:endParaRPr lang="en-US" sz="92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927131" y="9220200"/>
            <a:ext cx="2332137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4825" y="9220200"/>
            <a:ext cx="1999952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78952" y="4277195"/>
            <a:ext cx="1257501" cy="1561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0731" y="662450"/>
            <a:ext cx="3168227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494841"/>
            <a:ext cx="9805410" cy="60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22"/>
              </a:lnSpc>
            </a:pPr>
            <a:r>
              <a:rPr lang="en-US" sz="3515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¿Cuál era el reto al que nos enfrentábamos?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740" y="2626654"/>
            <a:ext cx="10311460" cy="601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22"/>
              </a:lnSpc>
            </a:pPr>
            <a:r>
              <a:rPr lang="en-US" sz="3515" b="1" dirty="0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</a:t>
            </a:r>
            <a:r>
              <a:rPr lang="en-US" sz="3515" b="1" dirty="0" err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coste</a:t>
            </a:r>
            <a:r>
              <a:rPr lang="en-US" sz="3515" b="1" dirty="0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515" b="1" dirty="0" err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oculto</a:t>
            </a:r>
            <a:r>
              <a:rPr lang="en-US" sz="3515" b="1" dirty="0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del telemarketing </a:t>
            </a:r>
            <a:r>
              <a:rPr lang="en-US" sz="3515" b="1" dirty="0" err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tradicional</a:t>
            </a:r>
            <a:endParaRPr lang="en-US" sz="3515" b="1" dirty="0">
              <a:solidFill>
                <a:srgbClr val="512AD5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3497677"/>
            <a:ext cx="16230600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Contexto:</a:t>
            </a:r>
            <a:r>
              <a:rPr lang="en-US" sz="30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Campañas de captación de depósitos a plazo basadas en el volumen masivo de contactos telefónicos.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Problema: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Operar sin segmentación genera bajas tasas de conversión, fatiga en la base de clientes y altos costes de adquisición (CAC).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Necesidad: 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Transicionar hacia una estrategia Data-Driven para identificar probabilísticamente a los clientes con mayor propensión de compra.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68963" y="7593378"/>
            <a:ext cx="11796296" cy="7124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 de </a:t>
            </a:r>
            <a:r>
              <a:rPr lang="en-US" sz="4199" b="1" dirty="0" err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cada</a:t>
            </a:r>
            <a:r>
              <a:rPr lang="en-US" sz="4199" b="1" dirty="0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9 </a:t>
            </a:r>
            <a:r>
              <a:rPr lang="en-US" sz="4199" b="1" dirty="0" err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llamadas</a:t>
            </a:r>
            <a:r>
              <a:rPr lang="en-US" sz="4199" b="1" dirty="0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199" b="1" dirty="0" err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convierte</a:t>
            </a:r>
            <a:r>
              <a:rPr lang="en-US" sz="4199" b="1" dirty="0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un </a:t>
            </a:r>
            <a:r>
              <a:rPr lang="en-US" sz="4199" b="1" dirty="0" err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cliente</a:t>
            </a:r>
            <a:endParaRPr lang="en-US" sz="4199" b="1" dirty="0">
              <a:solidFill>
                <a:srgbClr val="512AD5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0731" y="662450"/>
            <a:ext cx="3168227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555398"/>
            <a:ext cx="13560004" cy="596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2"/>
              </a:lnSpc>
            </a:pPr>
            <a:r>
              <a:rPr lang="en-US" sz="3515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Optimizar la captación mediante Modelado Predictivo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1997" y="3070627"/>
            <a:ext cx="5182819" cy="299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Exploratorio (EDA)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Limpieza de datos (gestión de valores unknown) e identificación de patrones demográficos y macroeconómicos clave.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33553" y="3070627"/>
            <a:ext cx="5182819" cy="299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Machine Learning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Entrenamiento de un modelo de Regresión Logística, aplicando Nested CV y submuestreo para mitigar el desbalanceo de clases.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61805" y="3070627"/>
            <a:ext cx="5182819" cy="249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Business Intelligence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Desarrollo de un Dashboard que traduzca las métricas de evaluación del modelo en KPIs accionables para negocio.</a:t>
            </a:r>
            <a:r>
              <a:rPr lang="en-US" sz="2800">
                <a:solidFill>
                  <a:srgbClr val="512AD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861059"/>
            <a:ext cx="16213379" cy="1047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Objetivo: predecir la propensión de suscripción de cada cliente para optimizar la eficiencia del telemarketing bancario mediante Machine Learning.</a:t>
            </a:r>
          </a:p>
        </p:txBody>
      </p:sp>
      <p:sp>
        <p:nvSpPr>
          <p:cNvPr id="11" name="AutoShape 11"/>
          <p:cNvSpPr/>
          <p:nvPr/>
        </p:nvSpPr>
        <p:spPr>
          <a:xfrm flipH="1">
            <a:off x="6376378" y="2905290"/>
            <a:ext cx="0" cy="3381213"/>
          </a:xfrm>
          <a:prstGeom prst="line">
            <a:avLst/>
          </a:prstGeom>
          <a:ln w="38100" cap="flat">
            <a:solidFill>
              <a:srgbClr val="512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12" name="AutoShape 12"/>
          <p:cNvSpPr/>
          <p:nvPr/>
        </p:nvSpPr>
        <p:spPr>
          <a:xfrm flipH="1">
            <a:off x="12076030" y="2922502"/>
            <a:ext cx="0" cy="3381213"/>
          </a:xfrm>
          <a:prstGeom prst="line">
            <a:avLst/>
          </a:prstGeom>
          <a:ln w="38100" cap="flat">
            <a:solidFill>
              <a:srgbClr val="512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124950" y="2950847"/>
            <a:ext cx="19050" cy="4240044"/>
          </a:xfrm>
          <a:prstGeom prst="line">
            <a:avLst/>
          </a:prstGeom>
          <a:ln w="38100" cap="flat">
            <a:solidFill>
              <a:srgbClr val="512AD5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650731" y="662450"/>
            <a:ext cx="3168227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Introducción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555398"/>
            <a:ext cx="13560004" cy="596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2"/>
              </a:lnSpc>
            </a:pPr>
            <a:r>
              <a:rPr lang="en-US" sz="3515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Naturaleza del Dataset y Retos Técnicos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0816" y="2676256"/>
            <a:ext cx="8053675" cy="450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Dataset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Fuente: Campaña telemarketing bancario, Portugal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Registros: 40.186 tras limpieza de duplicados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Variables: 20 originales + 4 derivadas por ingeniería de features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Indicadores macroeconómicos integrados: 5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Target: subscribed (yes / no)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Tasa de conversión global: 11,3%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44025" y="2666731"/>
            <a:ext cx="7915275" cy="4524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03"/>
              </a:lnSpc>
            </a:pPr>
            <a:r>
              <a:rPr lang="en-US" sz="3216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Retos Técnicos Identificados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Desbalance de clases severo: ratio 7,87:1, Recall inicial del 21%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Valores no informados: variables demográficas con categoria undisclosed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Multicolinealidad macroeconómica: Euribor-Empleo, correlación r = 0,97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 leaking: call_duration excluida del modelo predictivo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0796" y="7819257"/>
            <a:ext cx="3782275" cy="763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Suscrito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88,7%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850816" y="7772001"/>
            <a:ext cx="16313234" cy="1075929"/>
            <a:chOff x="0" y="0"/>
            <a:chExt cx="21877979" cy="1434573"/>
          </a:xfrm>
        </p:grpSpPr>
        <p:grpSp>
          <p:nvGrpSpPr>
            <p:cNvPr id="12" name="Group 12"/>
            <p:cNvGrpSpPr/>
            <p:nvPr/>
          </p:nvGrpSpPr>
          <p:grpSpPr>
            <a:xfrm>
              <a:off x="237179" y="0"/>
              <a:ext cx="21640800" cy="1434573"/>
              <a:chOff x="0" y="0"/>
              <a:chExt cx="4274726" cy="28337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4274726" cy="283372"/>
              </a:xfrm>
              <a:custGeom>
                <a:avLst/>
                <a:gdLst/>
                <a:ahLst/>
                <a:cxnLst/>
                <a:rect l="l" t="t" r="r" b="b"/>
                <a:pathLst>
                  <a:path w="4274726" h="283372">
                    <a:moveTo>
                      <a:pt x="24327" y="0"/>
                    </a:moveTo>
                    <a:lnTo>
                      <a:pt x="4250399" y="0"/>
                    </a:lnTo>
                    <a:cubicBezTo>
                      <a:pt x="4263834" y="0"/>
                      <a:pt x="4274726" y="10891"/>
                      <a:pt x="4274726" y="24327"/>
                    </a:cubicBezTo>
                    <a:lnTo>
                      <a:pt x="4274726" y="259046"/>
                    </a:lnTo>
                    <a:cubicBezTo>
                      <a:pt x="4274726" y="272481"/>
                      <a:pt x="4263834" y="283372"/>
                      <a:pt x="4250399" y="283372"/>
                    </a:cubicBezTo>
                    <a:lnTo>
                      <a:pt x="24327" y="283372"/>
                    </a:lnTo>
                    <a:cubicBezTo>
                      <a:pt x="10891" y="283372"/>
                      <a:pt x="0" y="272481"/>
                      <a:pt x="0" y="259046"/>
                    </a:cubicBezTo>
                    <a:lnTo>
                      <a:pt x="0" y="24327"/>
                    </a:lnTo>
                    <a:cubicBezTo>
                      <a:pt x="0" y="10891"/>
                      <a:pt x="10891" y="0"/>
                      <a:pt x="24327" y="0"/>
                    </a:cubicBezTo>
                    <a:close/>
                  </a:path>
                </a:pathLst>
              </a:custGeom>
              <a:solidFill>
                <a:srgbClr val="E74C3C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4274726" cy="3214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70857"/>
              <a:ext cx="7172868" cy="123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No Suscrito</a:t>
              </a:r>
            </a:p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88,7%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46955" y="7771916"/>
            <a:ext cx="4883846" cy="1075929"/>
            <a:chOff x="0" y="0"/>
            <a:chExt cx="5928122" cy="143457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5749793" cy="1434573"/>
              <a:chOff x="0" y="0"/>
              <a:chExt cx="1135762" cy="28337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135762" cy="283372"/>
              </a:xfrm>
              <a:custGeom>
                <a:avLst/>
                <a:gdLst/>
                <a:ahLst/>
                <a:cxnLst/>
                <a:rect l="l" t="t" r="r" b="b"/>
                <a:pathLst>
                  <a:path w="1135762" h="283372">
                    <a:moveTo>
                      <a:pt x="91560" y="0"/>
                    </a:moveTo>
                    <a:lnTo>
                      <a:pt x="1044202" y="0"/>
                    </a:lnTo>
                    <a:cubicBezTo>
                      <a:pt x="1094769" y="0"/>
                      <a:pt x="1135762" y="40993"/>
                      <a:pt x="1135762" y="91560"/>
                    </a:cubicBezTo>
                    <a:lnTo>
                      <a:pt x="1135762" y="191812"/>
                    </a:lnTo>
                    <a:cubicBezTo>
                      <a:pt x="1135762" y="242380"/>
                      <a:pt x="1094769" y="283372"/>
                      <a:pt x="1044202" y="283372"/>
                    </a:cubicBezTo>
                    <a:lnTo>
                      <a:pt x="91560" y="283372"/>
                    </a:lnTo>
                    <a:cubicBezTo>
                      <a:pt x="40993" y="283372"/>
                      <a:pt x="0" y="242380"/>
                      <a:pt x="0" y="191812"/>
                    </a:cubicBezTo>
                    <a:lnTo>
                      <a:pt x="0" y="91560"/>
                    </a:lnTo>
                    <a:cubicBezTo>
                      <a:pt x="0" y="40993"/>
                      <a:pt x="40993" y="0"/>
                      <a:pt x="91560" y="0"/>
                    </a:cubicBezTo>
                    <a:close/>
                  </a:path>
                </a:pathLst>
              </a:custGeom>
              <a:solidFill>
                <a:srgbClr val="30B928"/>
              </a:solidFill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135762" cy="32147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78329" y="70971"/>
              <a:ext cx="5749793" cy="12562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780"/>
                </a:lnSpc>
              </a:pPr>
              <a:r>
                <a:rPr lang="en-US" sz="2700" b="1" dirty="0" err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Suscrito</a:t>
              </a:r>
              <a:endParaRPr lang="en-US" sz="27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endParaRPr>
            </a:p>
            <a:p>
              <a:pPr algn="ctr">
                <a:lnSpc>
                  <a:spcPts val="3780"/>
                </a:lnSpc>
                <a:spcBef>
                  <a:spcPct val="0"/>
                </a:spcBef>
              </a:pPr>
              <a:r>
                <a:rPr lang="en-US" sz="2700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11,3%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40475" y="3477524"/>
            <a:ext cx="13466236" cy="3604180"/>
            <a:chOff x="0" y="0"/>
            <a:chExt cx="3546663" cy="9492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46663" cy="949249"/>
            </a:xfrm>
            <a:custGeom>
              <a:avLst/>
              <a:gdLst/>
              <a:ahLst/>
              <a:cxnLst/>
              <a:rect l="l" t="t" r="r" b="b"/>
              <a:pathLst>
                <a:path w="3546663" h="949249">
                  <a:moveTo>
                    <a:pt x="29321" y="0"/>
                  </a:moveTo>
                  <a:lnTo>
                    <a:pt x="3517342" y="0"/>
                  </a:lnTo>
                  <a:cubicBezTo>
                    <a:pt x="3525119" y="0"/>
                    <a:pt x="3532577" y="3089"/>
                    <a:pt x="3538075" y="8588"/>
                  </a:cubicBezTo>
                  <a:cubicBezTo>
                    <a:pt x="3543574" y="14086"/>
                    <a:pt x="3546663" y="21544"/>
                    <a:pt x="3546663" y="29321"/>
                  </a:cubicBezTo>
                  <a:lnTo>
                    <a:pt x="3546663" y="919929"/>
                  </a:lnTo>
                  <a:cubicBezTo>
                    <a:pt x="3546663" y="927705"/>
                    <a:pt x="3543574" y="935163"/>
                    <a:pt x="3538075" y="940661"/>
                  </a:cubicBezTo>
                  <a:cubicBezTo>
                    <a:pt x="3532577" y="946160"/>
                    <a:pt x="3525119" y="949249"/>
                    <a:pt x="3517342" y="949249"/>
                  </a:cubicBezTo>
                  <a:lnTo>
                    <a:pt x="29321" y="949249"/>
                  </a:lnTo>
                  <a:cubicBezTo>
                    <a:pt x="21544" y="949249"/>
                    <a:pt x="14086" y="946160"/>
                    <a:pt x="8588" y="940661"/>
                  </a:cubicBezTo>
                  <a:cubicBezTo>
                    <a:pt x="3089" y="935163"/>
                    <a:pt x="0" y="927705"/>
                    <a:pt x="0" y="919929"/>
                  </a:cubicBezTo>
                  <a:lnTo>
                    <a:pt x="0" y="29321"/>
                  </a:lnTo>
                  <a:cubicBezTo>
                    <a:pt x="0" y="21544"/>
                    <a:pt x="3089" y="14086"/>
                    <a:pt x="8588" y="8588"/>
                  </a:cubicBezTo>
                  <a:cubicBezTo>
                    <a:pt x="14086" y="3089"/>
                    <a:pt x="21544" y="0"/>
                    <a:pt x="29321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46663" cy="987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036452" y="4277195"/>
            <a:ext cx="7984348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</a:t>
            </a:r>
            <a:r>
              <a:rPr lang="en-US" sz="9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EDA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27131" y="9220200"/>
            <a:ext cx="2332137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825" y="9220200"/>
            <a:ext cx="1999952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78952" y="4277195"/>
            <a:ext cx="125750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549353"/>
            <a:ext cx="1166101" cy="1168225"/>
          </a:xfrm>
          <a:custGeom>
            <a:avLst/>
            <a:gdLst/>
            <a:ahLst/>
            <a:cxnLst/>
            <a:rect l="l" t="t" r="r" b="b"/>
            <a:pathLst>
              <a:path w="1166101" h="1168225">
                <a:moveTo>
                  <a:pt x="0" y="0"/>
                </a:moveTo>
                <a:lnTo>
                  <a:pt x="1166101" y="0"/>
                </a:lnTo>
                <a:lnTo>
                  <a:pt x="1166101" y="1168225"/>
                </a:lnTo>
                <a:lnTo>
                  <a:pt x="0" y="11682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0731" y="662450"/>
            <a:ext cx="302716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99848" y="4146550"/>
            <a:ext cx="10488305" cy="189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¿Cómo influyen los factores demográficos en la campaña?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8399" y="1551656"/>
            <a:ext cx="15111202" cy="5447829"/>
          </a:xfrm>
          <a:custGeom>
            <a:avLst/>
            <a:gdLst/>
            <a:ahLst/>
            <a:cxnLst/>
            <a:rect l="l" t="t" r="r" b="b"/>
            <a:pathLst>
              <a:path w="15111202" h="5447829">
                <a:moveTo>
                  <a:pt x="0" y="0"/>
                </a:moveTo>
                <a:lnTo>
                  <a:pt x="15111202" y="0"/>
                </a:lnTo>
                <a:lnTo>
                  <a:pt x="15111202" y="5447828"/>
                </a:lnTo>
                <a:lnTo>
                  <a:pt x="0" y="5447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1" r="-1221" b="-520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0485163" y="7165061"/>
            <a:ext cx="5521580" cy="1927663"/>
            <a:chOff x="0" y="0"/>
            <a:chExt cx="1454243" cy="5076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54243" cy="507697"/>
            </a:xfrm>
            <a:custGeom>
              <a:avLst/>
              <a:gdLst/>
              <a:ahLst/>
              <a:cxnLst/>
              <a:rect l="l" t="t" r="r" b="b"/>
              <a:pathLst>
                <a:path w="1454243" h="507697">
                  <a:moveTo>
                    <a:pt x="71508" y="0"/>
                  </a:moveTo>
                  <a:lnTo>
                    <a:pt x="1382735" y="0"/>
                  </a:lnTo>
                  <a:cubicBezTo>
                    <a:pt x="1422228" y="0"/>
                    <a:pt x="1454243" y="32015"/>
                    <a:pt x="1454243" y="71508"/>
                  </a:cubicBezTo>
                  <a:lnTo>
                    <a:pt x="1454243" y="436189"/>
                  </a:lnTo>
                  <a:cubicBezTo>
                    <a:pt x="1454243" y="475682"/>
                    <a:pt x="1422228" y="507697"/>
                    <a:pt x="1382735" y="507697"/>
                  </a:cubicBezTo>
                  <a:lnTo>
                    <a:pt x="71508" y="507697"/>
                  </a:lnTo>
                  <a:cubicBezTo>
                    <a:pt x="32015" y="507697"/>
                    <a:pt x="0" y="475682"/>
                    <a:pt x="0" y="436189"/>
                  </a:cubicBezTo>
                  <a:lnTo>
                    <a:pt x="0" y="71508"/>
                  </a:lnTo>
                  <a:cubicBezTo>
                    <a:pt x="0" y="32015"/>
                    <a:pt x="32015" y="0"/>
                    <a:pt x="71508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54243" cy="545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154620" y="7153532"/>
            <a:ext cx="4852123" cy="18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Segmentos con </a:t>
            </a:r>
            <a:r>
              <a:rPr lang="en-US" sz="26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mayor alcance</a:t>
            </a:r>
            <a:r>
              <a:rPr lang="en-US" sz="2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Estudiantes </a:t>
            </a:r>
          </a:p>
          <a:p>
            <a:pPr marL="582927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Jubilados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0731" y="662450"/>
            <a:ext cx="302716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789087" y="7119439"/>
            <a:ext cx="5521580" cy="1927663"/>
            <a:chOff x="0" y="0"/>
            <a:chExt cx="1454243" cy="5076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54243" cy="507697"/>
            </a:xfrm>
            <a:custGeom>
              <a:avLst/>
              <a:gdLst/>
              <a:ahLst/>
              <a:cxnLst/>
              <a:rect l="l" t="t" r="r" b="b"/>
              <a:pathLst>
                <a:path w="1454243" h="507697">
                  <a:moveTo>
                    <a:pt x="71508" y="0"/>
                  </a:moveTo>
                  <a:lnTo>
                    <a:pt x="1382735" y="0"/>
                  </a:lnTo>
                  <a:cubicBezTo>
                    <a:pt x="1422228" y="0"/>
                    <a:pt x="1454243" y="32015"/>
                    <a:pt x="1454243" y="71508"/>
                  </a:cubicBezTo>
                  <a:lnTo>
                    <a:pt x="1454243" y="436189"/>
                  </a:lnTo>
                  <a:cubicBezTo>
                    <a:pt x="1454243" y="475682"/>
                    <a:pt x="1422228" y="507697"/>
                    <a:pt x="1382735" y="507697"/>
                  </a:cubicBezTo>
                  <a:lnTo>
                    <a:pt x="71508" y="507697"/>
                  </a:lnTo>
                  <a:cubicBezTo>
                    <a:pt x="32015" y="507697"/>
                    <a:pt x="0" y="475682"/>
                    <a:pt x="0" y="436189"/>
                  </a:cubicBezTo>
                  <a:lnTo>
                    <a:pt x="0" y="71508"/>
                  </a:lnTo>
                  <a:cubicBezTo>
                    <a:pt x="0" y="32015"/>
                    <a:pt x="32015" y="0"/>
                    <a:pt x="71508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54243" cy="5457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458544" y="7107911"/>
            <a:ext cx="4852123" cy="189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Segmentos con </a:t>
            </a:r>
            <a:r>
              <a:rPr lang="en-US" sz="26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mayor alcance</a:t>
            </a:r>
            <a:r>
              <a:rPr lang="en-US" sz="2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</a:p>
          <a:p>
            <a:pPr marL="582927" lvl="1" indent="-291463" algn="l">
              <a:lnSpc>
                <a:spcPts val="3779"/>
              </a:lnSpc>
              <a:buFont typeface="Arial"/>
              <a:buChar char="•"/>
            </a:pPr>
            <a:r>
              <a:rPr lang="en-US" sz="26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Mayores de 65 años</a:t>
            </a:r>
          </a:p>
          <a:p>
            <a:pPr marL="582927" lvl="1" indent="-291463" algn="l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6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Entre 18 y 25 años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04634" y="648824"/>
            <a:ext cx="8223548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Grupos de edad y puesto de trabajo: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40368" y="224348"/>
            <a:ext cx="7818932" cy="5243052"/>
          </a:xfrm>
          <a:custGeom>
            <a:avLst/>
            <a:gdLst/>
            <a:ahLst/>
            <a:cxnLst/>
            <a:rect l="l" t="t" r="r" b="b"/>
            <a:pathLst>
              <a:path w="7818932" h="5243052">
                <a:moveTo>
                  <a:pt x="0" y="0"/>
                </a:moveTo>
                <a:lnTo>
                  <a:pt x="7818932" y="0"/>
                </a:lnTo>
                <a:lnTo>
                  <a:pt x="7818932" y="5243052"/>
                </a:lnTo>
                <a:lnTo>
                  <a:pt x="0" y="52430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88" r="-2243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9440368" y="5467400"/>
            <a:ext cx="7818932" cy="4874398"/>
          </a:xfrm>
          <a:custGeom>
            <a:avLst/>
            <a:gdLst/>
            <a:ahLst/>
            <a:cxnLst/>
            <a:rect l="l" t="t" r="r" b="b"/>
            <a:pathLst>
              <a:path w="7818932" h="4874398">
                <a:moveTo>
                  <a:pt x="0" y="0"/>
                </a:moveTo>
                <a:lnTo>
                  <a:pt x="7818932" y="0"/>
                </a:lnTo>
                <a:lnTo>
                  <a:pt x="7818932" y="4874398"/>
                </a:lnTo>
                <a:lnTo>
                  <a:pt x="0" y="487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148121" y="8840281"/>
            <a:ext cx="9059548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pesar del 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desbalanceo de grupos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edad, podemos ver que la t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asa de conversión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 más 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alta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estudiantes y jubilados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0731" y="662450"/>
            <a:ext cx="302716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478597" y="2024063"/>
          <a:ext cx="7417538" cy="6297654"/>
        </p:xfrm>
        <a:graphic>
          <a:graphicData uri="http://schemas.openxmlformats.org/drawingml/2006/table">
            <a:tbl>
              <a:tblPr/>
              <a:tblGrid>
                <a:gridCol w="20125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9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0515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Grupo de edad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Total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Tasa de conversión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Suscritos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674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18-25 años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1.618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0,209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674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26-35 años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14.489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0,118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1.706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674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36-50 años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17.072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0,084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1.433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674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51-65 años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6.401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0,120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771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674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65+ años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606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0,469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284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6369537" y="725487"/>
            <a:ext cx="1379190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Edad: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0020" y="1484656"/>
            <a:ext cx="9086703" cy="6299725"/>
          </a:xfrm>
          <a:custGeom>
            <a:avLst/>
            <a:gdLst/>
            <a:ahLst/>
            <a:cxnLst/>
            <a:rect l="l" t="t" r="r" b="b"/>
            <a:pathLst>
              <a:path w="9086703" h="6299725">
                <a:moveTo>
                  <a:pt x="0" y="0"/>
                </a:moveTo>
                <a:lnTo>
                  <a:pt x="9086703" y="0"/>
                </a:lnTo>
                <a:lnTo>
                  <a:pt x="9086703" y="6299725"/>
                </a:lnTo>
                <a:lnTo>
                  <a:pt x="0" y="6299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6" t="-2318" r="-1003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658588" y="7908206"/>
            <a:ext cx="8688135" cy="2072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Personas con 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baja formación 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 la mayor tasa de conversión con 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18 casos</a:t>
            </a:r>
          </a:p>
          <a:p>
            <a:pPr algn="l">
              <a:lnSpc>
                <a:spcPts val="3359"/>
              </a:lnSpc>
            </a:pPr>
            <a:endParaRPr lang="en-US" sz="24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359"/>
              </a:lnSpc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“Undisclosed”</a:t>
            </a: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segunda mejor tasa  con </a:t>
            </a: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1690 casos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endParaRPr lang="en-US" sz="24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650731" y="662450"/>
            <a:ext cx="302716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10345252" y="738650"/>
          <a:ext cx="7417538" cy="9080273"/>
        </p:xfrm>
        <a:graphic>
          <a:graphicData uri="http://schemas.openxmlformats.org/drawingml/2006/table">
            <a:tbl>
              <a:tblPr/>
              <a:tblGrid>
                <a:gridCol w="370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54198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Nivel de educación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Tasa de conversión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436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Iliterate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0,222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36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Undisclosed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0,146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436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University degree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0,138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436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Professional course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0,113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436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High school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0,109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436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Basic 4y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0,103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84362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Basic 6y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0,081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35541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Basic 9y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0,078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6152922" y="639299"/>
            <a:ext cx="2717304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Educación: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5378" y="1650951"/>
            <a:ext cx="8798622" cy="5602503"/>
          </a:xfrm>
          <a:custGeom>
            <a:avLst/>
            <a:gdLst/>
            <a:ahLst/>
            <a:cxnLst/>
            <a:rect l="l" t="t" r="r" b="b"/>
            <a:pathLst>
              <a:path w="8798622" h="5602503">
                <a:moveTo>
                  <a:pt x="0" y="0"/>
                </a:moveTo>
                <a:lnTo>
                  <a:pt x="8798622" y="0"/>
                </a:lnTo>
                <a:lnTo>
                  <a:pt x="8798622" y="5602503"/>
                </a:lnTo>
                <a:lnTo>
                  <a:pt x="0" y="56025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490" b="-8420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9827322" y="2944807"/>
            <a:ext cx="8234486" cy="3012440"/>
            <a:chOff x="0" y="0"/>
            <a:chExt cx="2168754" cy="793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68754" cy="793400"/>
            </a:xfrm>
            <a:custGeom>
              <a:avLst/>
              <a:gdLst/>
              <a:ahLst/>
              <a:cxnLst/>
              <a:rect l="l" t="t" r="r" b="b"/>
              <a:pathLst>
                <a:path w="2168754" h="793400">
                  <a:moveTo>
                    <a:pt x="47949" y="0"/>
                  </a:moveTo>
                  <a:lnTo>
                    <a:pt x="2120804" y="0"/>
                  </a:lnTo>
                  <a:cubicBezTo>
                    <a:pt x="2147286" y="0"/>
                    <a:pt x="2168754" y="21468"/>
                    <a:pt x="2168754" y="47949"/>
                  </a:cubicBezTo>
                  <a:lnTo>
                    <a:pt x="2168754" y="745451"/>
                  </a:lnTo>
                  <a:cubicBezTo>
                    <a:pt x="2168754" y="758168"/>
                    <a:pt x="2163702" y="770364"/>
                    <a:pt x="2154710" y="779356"/>
                  </a:cubicBezTo>
                  <a:cubicBezTo>
                    <a:pt x="2145717" y="788348"/>
                    <a:pt x="2133521" y="793400"/>
                    <a:pt x="2120804" y="793400"/>
                  </a:cubicBezTo>
                  <a:lnTo>
                    <a:pt x="47949" y="793400"/>
                  </a:lnTo>
                  <a:cubicBezTo>
                    <a:pt x="21468" y="793400"/>
                    <a:pt x="0" y="771932"/>
                    <a:pt x="0" y="745451"/>
                  </a:cubicBezTo>
                  <a:lnTo>
                    <a:pt x="0" y="47949"/>
                  </a:lnTo>
                  <a:cubicBezTo>
                    <a:pt x="0" y="35232"/>
                    <a:pt x="5052" y="23036"/>
                    <a:pt x="14044" y="14044"/>
                  </a:cubicBezTo>
                  <a:cubicBezTo>
                    <a:pt x="23036" y="5052"/>
                    <a:pt x="35232" y="0"/>
                    <a:pt x="47949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168754" cy="83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969324" y="2887657"/>
            <a:ext cx="7950482" cy="306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</a:pPr>
            <a:endParaRPr/>
          </a:p>
          <a:p>
            <a:pPr algn="ctr">
              <a:lnSpc>
                <a:spcPts val="4059"/>
              </a:lnSpc>
            </a:pPr>
            <a:r>
              <a:rPr lang="en-US" sz="289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alta conversión en “undisclosed” refuerza la idea de que los datos faltantes pueden contener señales valiosas sobre el comportamiento del cliente.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endParaRPr lang="en-US" sz="2899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54849" y="7528504"/>
            <a:ext cx="11944944" cy="905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“Undisclosed” y “Single” presentan las mayores tasas con un 15% y  14% respectivamente.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0731" y="662450"/>
            <a:ext cx="302716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239376" y="662450"/>
            <a:ext cx="2992338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Estado civil: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0245" y="2160119"/>
            <a:ext cx="8115300" cy="5966763"/>
          </a:xfrm>
          <a:custGeom>
            <a:avLst/>
            <a:gdLst/>
            <a:ahLst/>
            <a:cxnLst/>
            <a:rect l="l" t="t" r="r" b="b"/>
            <a:pathLst>
              <a:path w="8115300" h="5966763">
                <a:moveTo>
                  <a:pt x="0" y="0"/>
                </a:moveTo>
                <a:lnTo>
                  <a:pt x="8115300" y="0"/>
                </a:lnTo>
                <a:lnTo>
                  <a:pt x="8115300" y="5966762"/>
                </a:lnTo>
                <a:lnTo>
                  <a:pt x="0" y="5966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52" r="-3077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650731" y="662450"/>
            <a:ext cx="3026718" cy="66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201676" y="2973769"/>
            <a:ext cx="8234486" cy="4470014"/>
            <a:chOff x="0" y="0"/>
            <a:chExt cx="2168754" cy="11772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68754" cy="1177288"/>
            </a:xfrm>
            <a:custGeom>
              <a:avLst/>
              <a:gdLst/>
              <a:ahLst/>
              <a:cxnLst/>
              <a:rect l="l" t="t" r="r" b="b"/>
              <a:pathLst>
                <a:path w="2168754" h="1177288">
                  <a:moveTo>
                    <a:pt x="47949" y="0"/>
                  </a:moveTo>
                  <a:lnTo>
                    <a:pt x="2120804" y="0"/>
                  </a:lnTo>
                  <a:cubicBezTo>
                    <a:pt x="2147286" y="0"/>
                    <a:pt x="2168754" y="21468"/>
                    <a:pt x="2168754" y="47949"/>
                  </a:cubicBezTo>
                  <a:lnTo>
                    <a:pt x="2168754" y="1129338"/>
                  </a:lnTo>
                  <a:cubicBezTo>
                    <a:pt x="2168754" y="1155820"/>
                    <a:pt x="2147286" y="1177288"/>
                    <a:pt x="2120804" y="1177288"/>
                  </a:cubicBezTo>
                  <a:lnTo>
                    <a:pt x="47949" y="1177288"/>
                  </a:lnTo>
                  <a:cubicBezTo>
                    <a:pt x="35232" y="1177288"/>
                    <a:pt x="23036" y="1172236"/>
                    <a:pt x="14044" y="1163244"/>
                  </a:cubicBezTo>
                  <a:cubicBezTo>
                    <a:pt x="5052" y="1154251"/>
                    <a:pt x="0" y="1142055"/>
                    <a:pt x="0" y="1129338"/>
                  </a:cubicBezTo>
                  <a:lnTo>
                    <a:pt x="0" y="47949"/>
                  </a:lnTo>
                  <a:cubicBezTo>
                    <a:pt x="0" y="35232"/>
                    <a:pt x="5052" y="23036"/>
                    <a:pt x="14044" y="14044"/>
                  </a:cubicBezTo>
                  <a:cubicBezTo>
                    <a:pt x="23036" y="5052"/>
                    <a:pt x="35232" y="0"/>
                    <a:pt x="47949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68754" cy="12153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489721" y="3495973"/>
            <a:ext cx="8443243" cy="3377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5573" lvl="1" indent="-297787" algn="l">
              <a:lnSpc>
                <a:spcPts val="3861"/>
              </a:lnSpc>
              <a:buFont typeface="Arial"/>
              <a:buChar char="•"/>
            </a:pPr>
            <a:r>
              <a:rPr lang="en-US" sz="275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 hay registros de personas con deudas impagadas</a:t>
            </a:r>
          </a:p>
          <a:p>
            <a:pPr marL="595573" lvl="1" indent="-297787" algn="l">
              <a:lnSpc>
                <a:spcPts val="3861"/>
              </a:lnSpc>
              <a:buFont typeface="Arial"/>
              <a:buChar char="•"/>
            </a:pPr>
            <a:r>
              <a:rPr lang="en-US" sz="275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Los clientes que no reportan esta información tienen también una considerable tasa de conversión</a:t>
            </a:r>
          </a:p>
          <a:p>
            <a:pPr algn="l">
              <a:lnSpc>
                <a:spcPts val="3861"/>
              </a:lnSpc>
            </a:pPr>
            <a:endParaRPr lang="en-US" sz="2758" b="1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algn="l">
              <a:lnSpc>
                <a:spcPts val="3861"/>
              </a:lnSpc>
            </a:pPr>
            <a:r>
              <a:rPr lang="en-US" sz="2758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Hay que tener en cuenta los “undisclosed”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126812" y="662450"/>
            <a:ext cx="5217468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Situación financiera: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98895" y="4146550"/>
            <a:ext cx="11090210" cy="189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¿Como influyen los contactos en la campaña?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50731" y="662450"/>
            <a:ext cx="302716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1997" y="2216384"/>
            <a:ext cx="8297010" cy="5854233"/>
          </a:xfrm>
          <a:custGeom>
            <a:avLst/>
            <a:gdLst/>
            <a:ahLst/>
            <a:cxnLst/>
            <a:rect l="l" t="t" r="r" b="b"/>
            <a:pathLst>
              <a:path w="8297010" h="5854233">
                <a:moveTo>
                  <a:pt x="0" y="0"/>
                </a:moveTo>
                <a:lnTo>
                  <a:pt x="8297010" y="0"/>
                </a:lnTo>
                <a:lnTo>
                  <a:pt x="8297010" y="5854232"/>
                </a:lnTo>
                <a:lnTo>
                  <a:pt x="0" y="58542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71" r="-3371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650731" y="662450"/>
            <a:ext cx="3026718" cy="66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1997" y="662450"/>
            <a:ext cx="802084" cy="662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27205" y="9220200"/>
            <a:ext cx="2331988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4973" y="9220200"/>
            <a:ext cx="1999655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208546" y="2803294"/>
            <a:ext cx="5560707" cy="4195406"/>
            <a:chOff x="0" y="0"/>
            <a:chExt cx="1464548" cy="110496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64548" cy="1104963"/>
            </a:xfrm>
            <a:custGeom>
              <a:avLst/>
              <a:gdLst/>
              <a:ahLst/>
              <a:cxnLst/>
              <a:rect l="l" t="t" r="r" b="b"/>
              <a:pathLst>
                <a:path w="1464548" h="1104963">
                  <a:moveTo>
                    <a:pt x="23668" y="0"/>
                  </a:moveTo>
                  <a:lnTo>
                    <a:pt x="1440880" y="0"/>
                  </a:lnTo>
                  <a:cubicBezTo>
                    <a:pt x="1453952" y="0"/>
                    <a:pt x="1464548" y="10597"/>
                    <a:pt x="1464548" y="23668"/>
                  </a:cubicBezTo>
                  <a:lnTo>
                    <a:pt x="1464548" y="1081295"/>
                  </a:lnTo>
                  <a:cubicBezTo>
                    <a:pt x="1464548" y="1087572"/>
                    <a:pt x="1462055" y="1093592"/>
                    <a:pt x="1457616" y="1098031"/>
                  </a:cubicBezTo>
                  <a:cubicBezTo>
                    <a:pt x="1453177" y="1102469"/>
                    <a:pt x="1447157" y="1104963"/>
                    <a:pt x="1440880" y="1104963"/>
                  </a:cubicBezTo>
                  <a:lnTo>
                    <a:pt x="23668" y="1104963"/>
                  </a:lnTo>
                  <a:cubicBezTo>
                    <a:pt x="17391" y="1104963"/>
                    <a:pt x="11371" y="1102469"/>
                    <a:pt x="6932" y="1098031"/>
                  </a:cubicBezTo>
                  <a:cubicBezTo>
                    <a:pt x="2494" y="1093592"/>
                    <a:pt x="0" y="1087572"/>
                    <a:pt x="0" y="1081295"/>
                  </a:cubicBezTo>
                  <a:lnTo>
                    <a:pt x="0" y="23668"/>
                  </a:lnTo>
                  <a:cubicBezTo>
                    <a:pt x="0" y="17391"/>
                    <a:pt x="2494" y="11371"/>
                    <a:pt x="6932" y="6932"/>
                  </a:cubicBezTo>
                  <a:cubicBezTo>
                    <a:pt x="11371" y="2494"/>
                    <a:pt x="17391" y="0"/>
                    <a:pt x="23668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464548" cy="11430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582619" y="3362382"/>
            <a:ext cx="4689128" cy="638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59"/>
              </a:lnSpc>
              <a:spcBef>
                <a:spcPct val="0"/>
              </a:spcBef>
            </a:pPr>
            <a:r>
              <a:rPr lang="en-US" sz="3756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Mayor familiaridad </a:t>
            </a:r>
          </a:p>
        </p:txBody>
      </p:sp>
      <p:sp>
        <p:nvSpPr>
          <p:cNvPr id="11" name="AutoShape 11"/>
          <p:cNvSpPr/>
          <p:nvPr/>
        </p:nvSpPr>
        <p:spPr>
          <a:xfrm>
            <a:off x="13927183" y="4398601"/>
            <a:ext cx="0" cy="1068650"/>
          </a:xfrm>
          <a:prstGeom prst="line">
            <a:avLst/>
          </a:prstGeom>
          <a:ln w="66675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Box 12"/>
          <p:cNvSpPr txBox="1"/>
          <p:nvPr/>
        </p:nvSpPr>
        <p:spPr>
          <a:xfrm>
            <a:off x="11396035" y="5781909"/>
            <a:ext cx="5100397" cy="621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3"/>
              </a:lnSpc>
              <a:spcBef>
                <a:spcPct val="0"/>
              </a:spcBef>
            </a:pPr>
            <a:r>
              <a:rPr lang="en-US" sz="365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Mayor conversión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74214" y="7646213"/>
            <a:ext cx="7711488" cy="1904088"/>
            <a:chOff x="0" y="0"/>
            <a:chExt cx="2031009" cy="5014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1009" cy="501488"/>
            </a:xfrm>
            <a:custGeom>
              <a:avLst/>
              <a:gdLst/>
              <a:ahLst/>
              <a:cxnLst/>
              <a:rect l="l" t="t" r="r" b="b"/>
              <a:pathLst>
                <a:path w="2031009" h="501488">
                  <a:moveTo>
                    <a:pt x="17067" y="0"/>
                  </a:moveTo>
                  <a:lnTo>
                    <a:pt x="2013942" y="0"/>
                  </a:lnTo>
                  <a:cubicBezTo>
                    <a:pt x="2018468" y="0"/>
                    <a:pt x="2022810" y="1798"/>
                    <a:pt x="2026010" y="4999"/>
                  </a:cubicBezTo>
                  <a:cubicBezTo>
                    <a:pt x="2029211" y="8200"/>
                    <a:pt x="2031009" y="12541"/>
                    <a:pt x="2031009" y="17067"/>
                  </a:cubicBezTo>
                  <a:lnTo>
                    <a:pt x="2031009" y="484421"/>
                  </a:lnTo>
                  <a:cubicBezTo>
                    <a:pt x="2031009" y="488948"/>
                    <a:pt x="2029211" y="493289"/>
                    <a:pt x="2026010" y="496489"/>
                  </a:cubicBezTo>
                  <a:cubicBezTo>
                    <a:pt x="2022810" y="499690"/>
                    <a:pt x="2018468" y="501488"/>
                    <a:pt x="2013942" y="501488"/>
                  </a:cubicBezTo>
                  <a:lnTo>
                    <a:pt x="17067" y="501488"/>
                  </a:lnTo>
                  <a:cubicBezTo>
                    <a:pt x="12541" y="501488"/>
                    <a:pt x="8200" y="499690"/>
                    <a:pt x="4999" y="496489"/>
                  </a:cubicBezTo>
                  <a:cubicBezTo>
                    <a:pt x="1798" y="493289"/>
                    <a:pt x="0" y="488948"/>
                    <a:pt x="0" y="484421"/>
                  </a:cubicBezTo>
                  <a:lnTo>
                    <a:pt x="0" y="17067"/>
                  </a:lnTo>
                  <a:cubicBezTo>
                    <a:pt x="0" y="12541"/>
                    <a:pt x="1798" y="8200"/>
                    <a:pt x="4999" y="4999"/>
                  </a:cubicBezTo>
                  <a:cubicBezTo>
                    <a:pt x="8200" y="1798"/>
                    <a:pt x="12541" y="0"/>
                    <a:pt x="17067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31009" cy="539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46050" y="1682430"/>
            <a:ext cx="8797950" cy="5727501"/>
          </a:xfrm>
          <a:custGeom>
            <a:avLst/>
            <a:gdLst/>
            <a:ahLst/>
            <a:cxnLst/>
            <a:rect l="l" t="t" r="r" b="b"/>
            <a:pathLst>
              <a:path w="8797950" h="5727501">
                <a:moveTo>
                  <a:pt x="0" y="0"/>
                </a:moveTo>
                <a:lnTo>
                  <a:pt x="8797950" y="0"/>
                </a:lnTo>
                <a:lnTo>
                  <a:pt x="8797950" y="5727502"/>
                </a:lnTo>
                <a:lnTo>
                  <a:pt x="0" y="572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4957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9399994" y="1682430"/>
            <a:ext cx="8888006" cy="5727501"/>
          </a:xfrm>
          <a:custGeom>
            <a:avLst/>
            <a:gdLst/>
            <a:ahLst/>
            <a:cxnLst/>
            <a:rect l="l" t="t" r="r" b="b"/>
            <a:pathLst>
              <a:path w="8888006" h="5727501">
                <a:moveTo>
                  <a:pt x="0" y="0"/>
                </a:moveTo>
                <a:lnTo>
                  <a:pt x="8888006" y="0"/>
                </a:lnTo>
                <a:lnTo>
                  <a:pt x="8888006" y="5727502"/>
                </a:lnTo>
                <a:lnTo>
                  <a:pt x="0" y="572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20" r="-1974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TextBox 7"/>
          <p:cNvSpPr txBox="1"/>
          <p:nvPr/>
        </p:nvSpPr>
        <p:spPr>
          <a:xfrm>
            <a:off x="3600804" y="7776387"/>
            <a:ext cx="4400194" cy="41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Alto </a:t>
            </a:r>
            <a:r>
              <a:rPr lang="en-US" sz="2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número</a:t>
            </a:r>
            <a:r>
              <a:rPr lang="en-US" sz="2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2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contactos</a:t>
            </a:r>
            <a:endParaRPr lang="en-US" sz="25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9988253" y="7646213"/>
            <a:ext cx="7711488" cy="1904088"/>
            <a:chOff x="0" y="0"/>
            <a:chExt cx="2031009" cy="501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31009" cy="501488"/>
            </a:xfrm>
            <a:custGeom>
              <a:avLst/>
              <a:gdLst/>
              <a:ahLst/>
              <a:cxnLst/>
              <a:rect l="l" t="t" r="r" b="b"/>
              <a:pathLst>
                <a:path w="2031009" h="501488">
                  <a:moveTo>
                    <a:pt x="17067" y="0"/>
                  </a:moveTo>
                  <a:lnTo>
                    <a:pt x="2013942" y="0"/>
                  </a:lnTo>
                  <a:cubicBezTo>
                    <a:pt x="2018468" y="0"/>
                    <a:pt x="2022810" y="1798"/>
                    <a:pt x="2026010" y="4999"/>
                  </a:cubicBezTo>
                  <a:cubicBezTo>
                    <a:pt x="2029211" y="8200"/>
                    <a:pt x="2031009" y="12541"/>
                    <a:pt x="2031009" y="17067"/>
                  </a:cubicBezTo>
                  <a:lnTo>
                    <a:pt x="2031009" y="484421"/>
                  </a:lnTo>
                  <a:cubicBezTo>
                    <a:pt x="2031009" y="488948"/>
                    <a:pt x="2029211" y="493289"/>
                    <a:pt x="2026010" y="496489"/>
                  </a:cubicBezTo>
                  <a:cubicBezTo>
                    <a:pt x="2022810" y="499690"/>
                    <a:pt x="2018468" y="501488"/>
                    <a:pt x="2013942" y="501488"/>
                  </a:cubicBezTo>
                  <a:lnTo>
                    <a:pt x="17067" y="501488"/>
                  </a:lnTo>
                  <a:cubicBezTo>
                    <a:pt x="12541" y="501488"/>
                    <a:pt x="8200" y="499690"/>
                    <a:pt x="4999" y="496489"/>
                  </a:cubicBezTo>
                  <a:cubicBezTo>
                    <a:pt x="1798" y="493289"/>
                    <a:pt x="0" y="488948"/>
                    <a:pt x="0" y="484421"/>
                  </a:cubicBezTo>
                  <a:lnTo>
                    <a:pt x="0" y="17067"/>
                  </a:lnTo>
                  <a:cubicBezTo>
                    <a:pt x="0" y="12541"/>
                    <a:pt x="1798" y="8200"/>
                    <a:pt x="4999" y="4999"/>
                  </a:cubicBezTo>
                  <a:cubicBezTo>
                    <a:pt x="8200" y="1798"/>
                    <a:pt x="12541" y="0"/>
                    <a:pt x="17067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31009" cy="5395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270884" y="7776387"/>
            <a:ext cx="3146227" cy="43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Contactos recientes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649275" y="8313661"/>
            <a:ext cx="0" cy="46109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ES"/>
          </a:p>
        </p:txBody>
      </p:sp>
      <p:sp>
        <p:nvSpPr>
          <p:cNvPr id="13" name="AutoShape 13"/>
          <p:cNvSpPr/>
          <p:nvPr/>
        </p:nvSpPr>
        <p:spPr>
          <a:xfrm flipH="1">
            <a:off x="13843997" y="8313661"/>
            <a:ext cx="0" cy="46109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Box 14"/>
          <p:cNvSpPr txBox="1"/>
          <p:nvPr/>
        </p:nvSpPr>
        <p:spPr>
          <a:xfrm>
            <a:off x="2255796" y="8826501"/>
            <a:ext cx="7329905" cy="41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Disminución</a:t>
            </a:r>
            <a:r>
              <a:rPr lang="en-US" sz="2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2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probabilidad</a:t>
            </a:r>
            <a:r>
              <a:rPr lang="en-US" sz="2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2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contratación</a:t>
            </a:r>
            <a:endParaRPr lang="en-US" sz="25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527362" y="8826502"/>
            <a:ext cx="6922438" cy="4194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Aumento</a:t>
            </a:r>
            <a:r>
              <a:rPr lang="en-US" sz="2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2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probabilidad</a:t>
            </a:r>
            <a:r>
              <a:rPr lang="en-US" sz="25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25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contratación</a:t>
            </a:r>
            <a:endParaRPr lang="en-US" sz="25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06578" y="9512201"/>
            <a:ext cx="1999655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714707" y="9654757"/>
            <a:ext cx="2331988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5076" y="662450"/>
            <a:ext cx="3239949" cy="662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122712" y="3653609"/>
          <a:ext cx="7417538" cy="2979781"/>
        </p:xfrm>
        <a:graphic>
          <a:graphicData uri="http://schemas.openxmlformats.org/drawingml/2006/table">
            <a:tbl>
              <a:tblPr/>
              <a:tblGrid>
                <a:gridCol w="3704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0129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Método de contacto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Tasa de conversión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9243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celular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9243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teléfono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1028700" y="2546293"/>
            <a:ext cx="8297010" cy="5484464"/>
          </a:xfrm>
          <a:custGeom>
            <a:avLst/>
            <a:gdLst/>
            <a:ahLst/>
            <a:cxnLst/>
            <a:rect l="l" t="t" r="r" b="b"/>
            <a:pathLst>
              <a:path w="8297010" h="5484464">
                <a:moveTo>
                  <a:pt x="0" y="0"/>
                </a:moveTo>
                <a:lnTo>
                  <a:pt x="8297010" y="0"/>
                </a:lnTo>
                <a:lnTo>
                  <a:pt x="8297010" y="5484464"/>
                </a:lnTo>
                <a:lnTo>
                  <a:pt x="0" y="54844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50731" y="662450"/>
            <a:ext cx="302716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98895" y="4146550"/>
            <a:ext cx="11090210" cy="189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¿El momento de la llamada impacta en la contratación?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50731" y="662450"/>
            <a:ext cx="302716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4740" y="2230605"/>
            <a:ext cx="8297010" cy="5484464"/>
          </a:xfrm>
          <a:custGeom>
            <a:avLst/>
            <a:gdLst/>
            <a:ahLst/>
            <a:cxnLst/>
            <a:rect l="l" t="t" r="r" b="b"/>
            <a:pathLst>
              <a:path w="8297010" h="5484464">
                <a:moveTo>
                  <a:pt x="0" y="0"/>
                </a:moveTo>
                <a:lnTo>
                  <a:pt x="8297010" y="0"/>
                </a:lnTo>
                <a:lnTo>
                  <a:pt x="8297010" y="5484465"/>
                </a:lnTo>
                <a:lnTo>
                  <a:pt x="0" y="54844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650731" y="662450"/>
            <a:ext cx="302716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020412" y="3600450"/>
            <a:ext cx="7238888" cy="3086100"/>
            <a:chOff x="0" y="0"/>
            <a:chExt cx="1906538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06538" cy="812800"/>
            </a:xfrm>
            <a:custGeom>
              <a:avLst/>
              <a:gdLst/>
              <a:ahLst/>
              <a:cxnLst/>
              <a:rect l="l" t="t" r="r" b="b"/>
              <a:pathLst>
                <a:path w="1906538" h="812800">
                  <a:moveTo>
                    <a:pt x="18181" y="0"/>
                  </a:moveTo>
                  <a:lnTo>
                    <a:pt x="1888357" y="0"/>
                  </a:lnTo>
                  <a:cubicBezTo>
                    <a:pt x="1893179" y="0"/>
                    <a:pt x="1897804" y="1916"/>
                    <a:pt x="1901213" y="5325"/>
                  </a:cubicBezTo>
                  <a:cubicBezTo>
                    <a:pt x="1904623" y="8735"/>
                    <a:pt x="1906538" y="13359"/>
                    <a:pt x="1906538" y="18181"/>
                  </a:cubicBezTo>
                  <a:lnTo>
                    <a:pt x="1906538" y="794619"/>
                  </a:lnTo>
                  <a:cubicBezTo>
                    <a:pt x="1906538" y="799441"/>
                    <a:pt x="1904623" y="804065"/>
                    <a:pt x="1901213" y="807475"/>
                  </a:cubicBezTo>
                  <a:cubicBezTo>
                    <a:pt x="1897804" y="810884"/>
                    <a:pt x="1893179" y="812800"/>
                    <a:pt x="1888357" y="812800"/>
                  </a:cubicBezTo>
                  <a:lnTo>
                    <a:pt x="18181" y="812800"/>
                  </a:lnTo>
                  <a:cubicBezTo>
                    <a:pt x="13359" y="812800"/>
                    <a:pt x="8735" y="810884"/>
                    <a:pt x="5325" y="807475"/>
                  </a:cubicBezTo>
                  <a:cubicBezTo>
                    <a:pt x="1916" y="804065"/>
                    <a:pt x="0" y="799441"/>
                    <a:pt x="0" y="794619"/>
                  </a:cubicBezTo>
                  <a:lnTo>
                    <a:pt x="0" y="18181"/>
                  </a:lnTo>
                  <a:cubicBezTo>
                    <a:pt x="0" y="13359"/>
                    <a:pt x="1916" y="8735"/>
                    <a:pt x="5325" y="5325"/>
                  </a:cubicBezTo>
                  <a:cubicBezTo>
                    <a:pt x="8735" y="1916"/>
                    <a:pt x="13359" y="0"/>
                    <a:pt x="18181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906538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07836" y="3664268"/>
            <a:ext cx="6837015" cy="2901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Meses con mayor tasa de conversión:</a:t>
            </a:r>
          </a:p>
          <a:p>
            <a:pPr marL="626122" lvl="1" indent="-313061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Marzo</a:t>
            </a:r>
          </a:p>
          <a:p>
            <a:pPr marL="626122" lvl="1" indent="-313061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Septiembre</a:t>
            </a:r>
          </a:p>
          <a:p>
            <a:pPr marL="626122" lvl="1" indent="-313061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Octubre </a:t>
            </a:r>
          </a:p>
          <a:p>
            <a:pPr marL="626122" lvl="1" indent="-313061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Diciembre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endParaRPr lang="en-US" sz="2900" b="1">
              <a:solidFill>
                <a:srgbClr val="FEFEFE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98895" y="3660775"/>
            <a:ext cx="11090210" cy="287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¿Cómo responden los clientes al contexto económico en la campaña?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50731" y="662450"/>
            <a:ext cx="302716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1566" y="1739318"/>
            <a:ext cx="8892810" cy="5727501"/>
          </a:xfrm>
          <a:custGeom>
            <a:avLst/>
            <a:gdLst/>
            <a:ahLst/>
            <a:cxnLst/>
            <a:rect l="l" t="t" r="r" b="b"/>
            <a:pathLst>
              <a:path w="8892810" h="5727501">
                <a:moveTo>
                  <a:pt x="0" y="0"/>
                </a:moveTo>
                <a:lnTo>
                  <a:pt x="8892810" y="0"/>
                </a:lnTo>
                <a:lnTo>
                  <a:pt x="8892810" y="5727501"/>
                </a:lnTo>
                <a:lnTo>
                  <a:pt x="0" y="57275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838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Freeform 3"/>
          <p:cNvSpPr/>
          <p:nvPr/>
        </p:nvSpPr>
        <p:spPr>
          <a:xfrm>
            <a:off x="9144000" y="1739318"/>
            <a:ext cx="8835922" cy="5727501"/>
          </a:xfrm>
          <a:custGeom>
            <a:avLst/>
            <a:gdLst/>
            <a:ahLst/>
            <a:cxnLst/>
            <a:rect l="l" t="t" r="r" b="b"/>
            <a:pathLst>
              <a:path w="8835922" h="5727501">
                <a:moveTo>
                  <a:pt x="0" y="0"/>
                </a:moveTo>
                <a:lnTo>
                  <a:pt x="8835922" y="0"/>
                </a:lnTo>
                <a:lnTo>
                  <a:pt x="8835922" y="5727501"/>
                </a:lnTo>
                <a:lnTo>
                  <a:pt x="0" y="57275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506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4" name="TextBox 4"/>
          <p:cNvSpPr txBox="1"/>
          <p:nvPr/>
        </p:nvSpPr>
        <p:spPr>
          <a:xfrm>
            <a:off x="1650731" y="662450"/>
            <a:ext cx="302716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Análisis EDA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34857" y="7828769"/>
            <a:ext cx="5192464" cy="448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Tasa de empleo y euribor bajos </a:t>
            </a:r>
          </a:p>
        </p:txBody>
      </p:sp>
      <p:sp>
        <p:nvSpPr>
          <p:cNvPr id="9" name="AutoShape 9"/>
          <p:cNvSpPr/>
          <p:nvPr/>
        </p:nvSpPr>
        <p:spPr>
          <a:xfrm>
            <a:off x="8560903" y="8081499"/>
            <a:ext cx="134392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10103120" y="7828769"/>
            <a:ext cx="4950023" cy="448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Tasa de contratación más alta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40475" y="3477524"/>
            <a:ext cx="13466236" cy="3604180"/>
            <a:chOff x="0" y="0"/>
            <a:chExt cx="3546663" cy="9492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46663" cy="949249"/>
            </a:xfrm>
            <a:custGeom>
              <a:avLst/>
              <a:gdLst/>
              <a:ahLst/>
              <a:cxnLst/>
              <a:rect l="l" t="t" r="r" b="b"/>
              <a:pathLst>
                <a:path w="3546663" h="949249">
                  <a:moveTo>
                    <a:pt x="29321" y="0"/>
                  </a:moveTo>
                  <a:lnTo>
                    <a:pt x="3517342" y="0"/>
                  </a:lnTo>
                  <a:cubicBezTo>
                    <a:pt x="3525119" y="0"/>
                    <a:pt x="3532577" y="3089"/>
                    <a:pt x="3538075" y="8588"/>
                  </a:cubicBezTo>
                  <a:cubicBezTo>
                    <a:pt x="3543574" y="14086"/>
                    <a:pt x="3546663" y="21544"/>
                    <a:pt x="3546663" y="29321"/>
                  </a:cubicBezTo>
                  <a:lnTo>
                    <a:pt x="3546663" y="919929"/>
                  </a:lnTo>
                  <a:cubicBezTo>
                    <a:pt x="3546663" y="927705"/>
                    <a:pt x="3543574" y="935163"/>
                    <a:pt x="3538075" y="940661"/>
                  </a:cubicBezTo>
                  <a:cubicBezTo>
                    <a:pt x="3532577" y="946160"/>
                    <a:pt x="3525119" y="949249"/>
                    <a:pt x="3517342" y="949249"/>
                  </a:cubicBezTo>
                  <a:lnTo>
                    <a:pt x="29321" y="949249"/>
                  </a:lnTo>
                  <a:cubicBezTo>
                    <a:pt x="21544" y="949249"/>
                    <a:pt x="14086" y="946160"/>
                    <a:pt x="8588" y="940661"/>
                  </a:cubicBezTo>
                  <a:cubicBezTo>
                    <a:pt x="3089" y="935163"/>
                    <a:pt x="0" y="927705"/>
                    <a:pt x="0" y="919929"/>
                  </a:cubicBezTo>
                  <a:lnTo>
                    <a:pt x="0" y="29321"/>
                  </a:lnTo>
                  <a:cubicBezTo>
                    <a:pt x="0" y="21544"/>
                    <a:pt x="3089" y="14086"/>
                    <a:pt x="8588" y="8588"/>
                  </a:cubicBezTo>
                  <a:cubicBezTo>
                    <a:pt x="14086" y="3089"/>
                    <a:pt x="21544" y="0"/>
                    <a:pt x="29321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46663" cy="987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28817" y="4457700"/>
            <a:ext cx="11015983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</a:t>
            </a:r>
            <a:r>
              <a:rPr lang="en-US" sz="9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predictivo</a:t>
            </a:r>
            <a:endParaRPr lang="en-US" sz="92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927131" y="9220200"/>
            <a:ext cx="2332137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825" y="9220200"/>
            <a:ext cx="1999952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71316" y="4410617"/>
            <a:ext cx="125750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549353"/>
            <a:ext cx="1166101" cy="1168225"/>
          </a:xfrm>
          <a:custGeom>
            <a:avLst/>
            <a:gdLst/>
            <a:ahLst/>
            <a:cxnLst/>
            <a:rect l="l" t="t" r="r" b="b"/>
            <a:pathLst>
              <a:path w="1166101" h="1168225">
                <a:moveTo>
                  <a:pt x="0" y="0"/>
                </a:moveTo>
                <a:lnTo>
                  <a:pt x="1166101" y="0"/>
                </a:lnTo>
                <a:lnTo>
                  <a:pt x="1166101" y="1168225"/>
                </a:lnTo>
                <a:lnTo>
                  <a:pt x="0" y="11682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0731" y="662450"/>
            <a:ext cx="4471703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predictivo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41340" y="4206409"/>
            <a:ext cx="8594235" cy="4846228"/>
            <a:chOff x="0" y="0"/>
            <a:chExt cx="2263502" cy="12763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63502" cy="1276373"/>
            </a:xfrm>
            <a:custGeom>
              <a:avLst/>
              <a:gdLst/>
              <a:ahLst/>
              <a:cxnLst/>
              <a:rect l="l" t="t" r="r" b="b"/>
              <a:pathLst>
                <a:path w="2263502" h="1276373">
                  <a:moveTo>
                    <a:pt x="45942" y="0"/>
                  </a:moveTo>
                  <a:lnTo>
                    <a:pt x="2217560" y="0"/>
                  </a:lnTo>
                  <a:cubicBezTo>
                    <a:pt x="2242933" y="0"/>
                    <a:pt x="2263502" y="20569"/>
                    <a:pt x="2263502" y="45942"/>
                  </a:cubicBezTo>
                  <a:lnTo>
                    <a:pt x="2263502" y="1230431"/>
                  </a:lnTo>
                  <a:cubicBezTo>
                    <a:pt x="2263502" y="1255804"/>
                    <a:pt x="2242933" y="1276373"/>
                    <a:pt x="2217560" y="1276373"/>
                  </a:cubicBezTo>
                  <a:lnTo>
                    <a:pt x="45942" y="1276373"/>
                  </a:lnTo>
                  <a:cubicBezTo>
                    <a:pt x="20569" y="1276373"/>
                    <a:pt x="0" y="1255804"/>
                    <a:pt x="0" y="1230431"/>
                  </a:cubicBezTo>
                  <a:lnTo>
                    <a:pt x="0" y="45942"/>
                  </a:lnTo>
                  <a:cubicBezTo>
                    <a:pt x="0" y="20569"/>
                    <a:pt x="20569" y="0"/>
                    <a:pt x="45942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63502" cy="131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4740" y="1757228"/>
            <a:ext cx="16093199" cy="1944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objetivo es construir un modelo predictivo simple basado en Regresión Logística que permita estimar la probabilidad de que un cliente contrate un depósito a plazo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41340" y="4431122"/>
            <a:ext cx="8736728" cy="4248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821" lvl="1" indent="-323911" algn="l">
              <a:lnSpc>
                <a:spcPts val="4200"/>
              </a:lnSpc>
              <a:buFont typeface="Arial"/>
              <a:buChar char="•"/>
            </a:pP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Eliminación</a:t>
            </a:r>
            <a:r>
              <a:rPr lang="en-US" sz="3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las columnas “</a:t>
            </a: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call_duration</a:t>
            </a:r>
            <a:r>
              <a:rPr lang="en-US" sz="3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” y “</a:t>
            </a: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call_duration_group</a:t>
            </a:r>
            <a:r>
              <a:rPr lang="en-US" sz="3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” → Data leakage</a:t>
            </a:r>
          </a:p>
          <a:p>
            <a:pPr marL="647821" lvl="1" indent="-323911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Dos </a:t>
            </a: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pruebas</a:t>
            </a:r>
            <a:r>
              <a:rPr lang="en-US" sz="3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</a:t>
            </a:r>
          </a:p>
          <a:p>
            <a:pPr marL="1295643" lvl="2" indent="-431881" algn="l">
              <a:lnSpc>
                <a:spcPts val="4200"/>
              </a:lnSpc>
              <a:buFont typeface="Arial"/>
              <a:buChar char="⚬"/>
            </a:pPr>
            <a:r>
              <a:rPr lang="en-US" sz="3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sin </a:t>
            </a: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submuestro</a:t>
            </a:r>
            <a:endParaRPr lang="en-US" sz="3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1295643" lvl="2" indent="-431881" algn="l">
              <a:lnSpc>
                <a:spcPts val="4200"/>
              </a:lnSpc>
              <a:buFont typeface="Arial"/>
              <a:buChar char="⚬"/>
            </a:pPr>
            <a:r>
              <a:rPr lang="en-US" sz="3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con </a:t>
            </a: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submuestreo</a:t>
            </a:r>
            <a:endParaRPr lang="en-US" sz="3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647821" lvl="1" indent="-32391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Herramienta</a:t>
            </a:r>
            <a:r>
              <a:rPr lang="en-US" sz="3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para </a:t>
            </a: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predicción</a:t>
            </a:r>
            <a:r>
              <a:rPr lang="en-US" sz="3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3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suscripción</a:t>
            </a:r>
            <a:endParaRPr lang="en-US" sz="30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576275" y="4206409"/>
            <a:ext cx="8146360" cy="4846228"/>
            <a:chOff x="0" y="0"/>
            <a:chExt cx="2145543" cy="127637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45543" cy="1276373"/>
            </a:xfrm>
            <a:custGeom>
              <a:avLst/>
              <a:gdLst/>
              <a:ahLst/>
              <a:cxnLst/>
              <a:rect l="l" t="t" r="r" b="b"/>
              <a:pathLst>
                <a:path w="2145543" h="1276373">
                  <a:moveTo>
                    <a:pt x="48468" y="0"/>
                  </a:moveTo>
                  <a:lnTo>
                    <a:pt x="2097075" y="0"/>
                  </a:lnTo>
                  <a:cubicBezTo>
                    <a:pt x="2109930" y="0"/>
                    <a:pt x="2122258" y="5106"/>
                    <a:pt x="2131347" y="14196"/>
                  </a:cubicBezTo>
                  <a:cubicBezTo>
                    <a:pt x="2140437" y="23285"/>
                    <a:pt x="2145543" y="35613"/>
                    <a:pt x="2145543" y="48468"/>
                  </a:cubicBezTo>
                  <a:lnTo>
                    <a:pt x="2145543" y="1227905"/>
                  </a:lnTo>
                  <a:cubicBezTo>
                    <a:pt x="2145543" y="1240759"/>
                    <a:pt x="2140437" y="1253087"/>
                    <a:pt x="2131347" y="1262177"/>
                  </a:cubicBezTo>
                  <a:cubicBezTo>
                    <a:pt x="2122258" y="1271266"/>
                    <a:pt x="2109930" y="1276373"/>
                    <a:pt x="2097075" y="1276373"/>
                  </a:cubicBezTo>
                  <a:lnTo>
                    <a:pt x="48468" y="1276373"/>
                  </a:lnTo>
                  <a:cubicBezTo>
                    <a:pt x="35613" y="1276373"/>
                    <a:pt x="23285" y="1271266"/>
                    <a:pt x="14196" y="1262177"/>
                  </a:cubicBezTo>
                  <a:cubicBezTo>
                    <a:pt x="5106" y="1253087"/>
                    <a:pt x="0" y="1240759"/>
                    <a:pt x="0" y="1227905"/>
                  </a:cubicBezTo>
                  <a:lnTo>
                    <a:pt x="0" y="48468"/>
                  </a:lnTo>
                  <a:cubicBezTo>
                    <a:pt x="0" y="35613"/>
                    <a:pt x="5106" y="23285"/>
                    <a:pt x="14196" y="14196"/>
                  </a:cubicBezTo>
                  <a:cubicBezTo>
                    <a:pt x="23285" y="5106"/>
                    <a:pt x="35613" y="0"/>
                    <a:pt x="48468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145543" cy="13144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76275" y="4431122"/>
            <a:ext cx="6795096" cy="3714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821" lvl="1" indent="-32391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Librerías utilizada → scikit-learn</a:t>
            </a:r>
          </a:p>
          <a:p>
            <a:pPr marL="647821" lvl="1" indent="-323911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Métricas:</a:t>
            </a:r>
          </a:p>
          <a:p>
            <a:pPr marL="1295643" lvl="2" indent="-431881" algn="l">
              <a:lnSpc>
                <a:spcPts val="4200"/>
              </a:lnSpc>
              <a:buFont typeface="Arial"/>
              <a:buChar char="⚬"/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Accuracy</a:t>
            </a:r>
          </a:p>
          <a:p>
            <a:pPr marL="1295643" lvl="2" indent="-431881" algn="l">
              <a:lnSpc>
                <a:spcPts val="4200"/>
              </a:lnSpc>
              <a:buFont typeface="Arial"/>
              <a:buChar char="⚬"/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Precision</a:t>
            </a:r>
          </a:p>
          <a:p>
            <a:pPr marL="1295643" lvl="2" indent="-431881" algn="l">
              <a:lnSpc>
                <a:spcPts val="4200"/>
              </a:lnSpc>
              <a:buFont typeface="Arial"/>
              <a:buChar char="⚬"/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Recall</a:t>
            </a:r>
          </a:p>
          <a:p>
            <a:pPr marL="1295643" lvl="2" indent="-431881" algn="l">
              <a:lnSpc>
                <a:spcPts val="4200"/>
              </a:lnSpc>
              <a:buFont typeface="Arial"/>
              <a:buChar char="⚬"/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F1-score</a:t>
            </a:r>
          </a:p>
          <a:p>
            <a:pPr marL="1295643" lvl="2" indent="-431881" algn="l">
              <a:lnSpc>
                <a:spcPts val="4200"/>
              </a:lnSpc>
              <a:spcBef>
                <a:spcPct val="0"/>
              </a:spcBef>
              <a:buFont typeface="Arial"/>
              <a:buChar char="⚬"/>
            </a:pPr>
            <a:r>
              <a:rPr lang="en-US" sz="3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AUC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252797"/>
            <a:ext cx="12369096" cy="5577497"/>
          </a:xfrm>
          <a:custGeom>
            <a:avLst/>
            <a:gdLst/>
            <a:ahLst/>
            <a:cxnLst/>
            <a:rect l="l" t="t" r="r" b="b"/>
            <a:pathLst>
              <a:path w="13399391" h="5577497">
                <a:moveTo>
                  <a:pt x="0" y="0"/>
                </a:moveTo>
                <a:lnTo>
                  <a:pt x="13399391" y="0"/>
                </a:lnTo>
                <a:lnTo>
                  <a:pt x="13399391" y="5577497"/>
                </a:lnTo>
                <a:lnTo>
                  <a:pt x="0" y="5577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30"/>
            </a:stretch>
          </a:blipFill>
        </p:spPr>
        <p:txBody>
          <a:bodyPr/>
          <a:lstStyle/>
          <a:p>
            <a:endParaRPr lang="es-E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1844119" y="2048494"/>
          <a:ext cx="6165958" cy="6781800"/>
        </p:xfrm>
        <a:graphic>
          <a:graphicData uri="http://schemas.openxmlformats.org/drawingml/2006/table">
            <a:tbl>
              <a:tblPr/>
              <a:tblGrid>
                <a:gridCol w="3082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2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0,8993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0,6698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0,2120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0,3220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0,7879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650731" y="662450"/>
            <a:ext cx="4471703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predictivo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94801" y="1673137"/>
            <a:ext cx="6949199" cy="187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SIN submuestro</a:t>
            </a:r>
          </a:p>
          <a:p>
            <a:pPr marL="755769" lvl="1" indent="-377884" algn="l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35.654 “No”</a:t>
            </a:r>
          </a:p>
          <a:p>
            <a:pPr marL="755769" lvl="1" indent="-377884" algn="l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4.532 “Si”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245962"/>
            <a:ext cx="12377307" cy="5584332"/>
          </a:xfrm>
          <a:custGeom>
            <a:avLst/>
            <a:gdLst/>
            <a:ahLst/>
            <a:cxnLst/>
            <a:rect l="l" t="t" r="r" b="b"/>
            <a:pathLst>
              <a:path w="13415813" h="5584332">
                <a:moveTo>
                  <a:pt x="0" y="0"/>
                </a:moveTo>
                <a:lnTo>
                  <a:pt x="13415813" y="0"/>
                </a:lnTo>
                <a:lnTo>
                  <a:pt x="13415813" y="5584332"/>
                </a:lnTo>
                <a:lnTo>
                  <a:pt x="0" y="55843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390"/>
            </a:stretch>
          </a:blipFill>
        </p:spPr>
        <p:txBody>
          <a:bodyPr/>
          <a:lstStyle/>
          <a:p>
            <a:endParaRPr lang="es-ES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1844119" y="2048494"/>
          <a:ext cx="6165958" cy="6781800"/>
        </p:xfrm>
        <a:graphic>
          <a:graphicData uri="http://schemas.openxmlformats.org/drawingml/2006/table">
            <a:tbl>
              <a:tblPr/>
              <a:tblGrid>
                <a:gridCol w="3082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2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Métrica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Media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A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0,7668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0,7623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0,5910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F1-Score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0,6657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0,7904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650731" y="662450"/>
            <a:ext cx="4471703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predictivo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94801" y="1673137"/>
            <a:ext cx="6949199" cy="187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CON submuestro</a:t>
            </a:r>
          </a:p>
          <a:p>
            <a:pPr marL="755769" lvl="1" indent="-377884" algn="l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7.000 “No”</a:t>
            </a:r>
          </a:p>
          <a:p>
            <a:pPr marL="755769" lvl="1" indent="-377884" algn="l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4.532 “Si”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5854876" y="1503790"/>
            <a:ext cx="11404424" cy="727942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650731" y="662450"/>
            <a:ext cx="4471703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Modelo predictivo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3.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3366" y="3809372"/>
            <a:ext cx="4902989" cy="2601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Demostración herramienta de predicción de suscripción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3280" y="7360289"/>
            <a:ext cx="6191309" cy="537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u="sng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  <a:hlinkClick r:id="rId5" tooltip="https://diegoperales065.github.io/marketing_analysis_fintech/"/>
              </a:rPr>
              <a:t>Enlace a la herramienta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40475" y="3477524"/>
            <a:ext cx="13466236" cy="3604180"/>
            <a:chOff x="0" y="0"/>
            <a:chExt cx="3546663" cy="9492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46663" cy="949249"/>
            </a:xfrm>
            <a:custGeom>
              <a:avLst/>
              <a:gdLst/>
              <a:ahLst/>
              <a:cxnLst/>
              <a:rect l="l" t="t" r="r" b="b"/>
              <a:pathLst>
                <a:path w="3546663" h="949249">
                  <a:moveTo>
                    <a:pt x="29321" y="0"/>
                  </a:moveTo>
                  <a:lnTo>
                    <a:pt x="3517342" y="0"/>
                  </a:lnTo>
                  <a:cubicBezTo>
                    <a:pt x="3525119" y="0"/>
                    <a:pt x="3532577" y="3089"/>
                    <a:pt x="3538075" y="8588"/>
                  </a:cubicBezTo>
                  <a:cubicBezTo>
                    <a:pt x="3543574" y="14086"/>
                    <a:pt x="3546663" y="21544"/>
                    <a:pt x="3546663" y="29321"/>
                  </a:cubicBezTo>
                  <a:lnTo>
                    <a:pt x="3546663" y="919929"/>
                  </a:lnTo>
                  <a:cubicBezTo>
                    <a:pt x="3546663" y="927705"/>
                    <a:pt x="3543574" y="935163"/>
                    <a:pt x="3538075" y="940661"/>
                  </a:cubicBezTo>
                  <a:cubicBezTo>
                    <a:pt x="3532577" y="946160"/>
                    <a:pt x="3525119" y="949249"/>
                    <a:pt x="3517342" y="949249"/>
                  </a:cubicBezTo>
                  <a:lnTo>
                    <a:pt x="29321" y="949249"/>
                  </a:lnTo>
                  <a:cubicBezTo>
                    <a:pt x="21544" y="949249"/>
                    <a:pt x="14086" y="946160"/>
                    <a:pt x="8588" y="940661"/>
                  </a:cubicBezTo>
                  <a:cubicBezTo>
                    <a:pt x="3089" y="935163"/>
                    <a:pt x="0" y="927705"/>
                    <a:pt x="0" y="919929"/>
                  </a:cubicBezTo>
                  <a:lnTo>
                    <a:pt x="0" y="29321"/>
                  </a:lnTo>
                  <a:cubicBezTo>
                    <a:pt x="0" y="21544"/>
                    <a:pt x="3089" y="14086"/>
                    <a:pt x="8588" y="8588"/>
                  </a:cubicBezTo>
                  <a:cubicBezTo>
                    <a:pt x="14086" y="3089"/>
                    <a:pt x="21544" y="0"/>
                    <a:pt x="29321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46663" cy="987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593881" y="4410617"/>
            <a:ext cx="7198319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27131" y="9220200"/>
            <a:ext cx="2332137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825" y="9220200"/>
            <a:ext cx="1999952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36380" y="4410617"/>
            <a:ext cx="125750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549353"/>
            <a:ext cx="1166101" cy="1168225"/>
          </a:xfrm>
          <a:custGeom>
            <a:avLst/>
            <a:gdLst/>
            <a:ahLst/>
            <a:cxnLst/>
            <a:rect l="l" t="t" r="r" b="b"/>
            <a:pathLst>
              <a:path w="1166101" h="1168225">
                <a:moveTo>
                  <a:pt x="0" y="0"/>
                </a:moveTo>
                <a:lnTo>
                  <a:pt x="1166101" y="0"/>
                </a:lnTo>
                <a:lnTo>
                  <a:pt x="1166101" y="1168225"/>
                </a:lnTo>
                <a:lnTo>
                  <a:pt x="0" y="11682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0731" y="662450"/>
            <a:ext cx="2695601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644285" y="2983593"/>
            <a:ext cx="10399987" cy="1105575"/>
            <a:chOff x="0" y="0"/>
            <a:chExt cx="2739091" cy="2911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39091" cy="291180"/>
            </a:xfrm>
            <a:custGeom>
              <a:avLst/>
              <a:gdLst/>
              <a:ahLst/>
              <a:cxnLst/>
              <a:rect l="l" t="t" r="r" b="b"/>
              <a:pathLst>
                <a:path w="2739091" h="291180">
                  <a:moveTo>
                    <a:pt x="37965" y="0"/>
                  </a:moveTo>
                  <a:lnTo>
                    <a:pt x="2701126" y="0"/>
                  </a:lnTo>
                  <a:cubicBezTo>
                    <a:pt x="2722094" y="0"/>
                    <a:pt x="2739091" y="16998"/>
                    <a:pt x="2739091" y="37965"/>
                  </a:cubicBezTo>
                  <a:lnTo>
                    <a:pt x="2739091" y="253215"/>
                  </a:lnTo>
                  <a:cubicBezTo>
                    <a:pt x="2739091" y="263284"/>
                    <a:pt x="2735091" y="272941"/>
                    <a:pt x="2727972" y="280061"/>
                  </a:cubicBezTo>
                  <a:cubicBezTo>
                    <a:pt x="2720852" y="287180"/>
                    <a:pt x="2711195" y="291180"/>
                    <a:pt x="2701126" y="291180"/>
                  </a:cubicBezTo>
                  <a:lnTo>
                    <a:pt x="37965" y="291180"/>
                  </a:lnTo>
                  <a:cubicBezTo>
                    <a:pt x="27896" y="291180"/>
                    <a:pt x="18240" y="287180"/>
                    <a:pt x="11120" y="280061"/>
                  </a:cubicBezTo>
                  <a:cubicBezTo>
                    <a:pt x="4000" y="272941"/>
                    <a:pt x="0" y="263284"/>
                    <a:pt x="0" y="253215"/>
                  </a:cubicBezTo>
                  <a:lnTo>
                    <a:pt x="0" y="37965"/>
                  </a:lnTo>
                  <a:cubicBezTo>
                    <a:pt x="0" y="16998"/>
                    <a:pt x="16998" y="0"/>
                    <a:pt x="37965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39091" cy="329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236492" y="6002632"/>
            <a:ext cx="4856308" cy="1300775"/>
            <a:chOff x="0" y="0"/>
            <a:chExt cx="1279028" cy="34259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9028" cy="342591"/>
            </a:xfrm>
            <a:custGeom>
              <a:avLst/>
              <a:gdLst/>
              <a:ahLst/>
              <a:cxnLst/>
              <a:rect l="l" t="t" r="r" b="b"/>
              <a:pathLst>
                <a:path w="1279028" h="342591">
                  <a:moveTo>
                    <a:pt x="81304" y="0"/>
                  </a:moveTo>
                  <a:lnTo>
                    <a:pt x="1197724" y="0"/>
                  </a:lnTo>
                  <a:cubicBezTo>
                    <a:pt x="1219287" y="0"/>
                    <a:pt x="1239967" y="8566"/>
                    <a:pt x="1255214" y="23813"/>
                  </a:cubicBezTo>
                  <a:cubicBezTo>
                    <a:pt x="1270462" y="39061"/>
                    <a:pt x="1279028" y="59741"/>
                    <a:pt x="1279028" y="81304"/>
                  </a:cubicBezTo>
                  <a:lnTo>
                    <a:pt x="1279028" y="261287"/>
                  </a:lnTo>
                  <a:cubicBezTo>
                    <a:pt x="1279028" y="282850"/>
                    <a:pt x="1270462" y="303530"/>
                    <a:pt x="1255214" y="318778"/>
                  </a:cubicBezTo>
                  <a:cubicBezTo>
                    <a:pt x="1239967" y="334025"/>
                    <a:pt x="1219287" y="342591"/>
                    <a:pt x="1197724" y="342591"/>
                  </a:cubicBezTo>
                  <a:lnTo>
                    <a:pt x="81304" y="342591"/>
                  </a:lnTo>
                  <a:cubicBezTo>
                    <a:pt x="59741" y="342591"/>
                    <a:pt x="39061" y="334025"/>
                    <a:pt x="23813" y="318778"/>
                  </a:cubicBezTo>
                  <a:cubicBezTo>
                    <a:pt x="8566" y="303530"/>
                    <a:pt x="0" y="282850"/>
                    <a:pt x="0" y="261287"/>
                  </a:cubicBezTo>
                  <a:lnTo>
                    <a:pt x="0" y="81304"/>
                  </a:lnTo>
                  <a:cubicBezTo>
                    <a:pt x="0" y="59741"/>
                    <a:pt x="8566" y="39061"/>
                    <a:pt x="23813" y="23813"/>
                  </a:cubicBezTo>
                  <a:cubicBezTo>
                    <a:pt x="39061" y="8566"/>
                    <a:pt x="59741" y="0"/>
                    <a:pt x="81304" y="0"/>
                  </a:cubicBezTo>
                  <a:close/>
                </a:path>
              </a:pathLst>
            </a:custGeom>
            <a:solidFill>
              <a:srgbClr val="E3E8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79028" cy="380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553899" y="6013536"/>
            <a:ext cx="4900272" cy="93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838" lvl="1" indent="-399419" algn="l">
              <a:lnSpc>
                <a:spcPts val="8325"/>
              </a:lnSpc>
              <a:spcBef>
                <a:spcPct val="0"/>
              </a:spcBef>
              <a:buAutoNum type="arabicPeriod"/>
            </a:pPr>
            <a:r>
              <a:rPr lang="en-US" sz="37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Segmentación</a:t>
            </a:r>
            <a:endParaRPr lang="en-US" sz="37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916368" y="3067644"/>
            <a:ext cx="12494304" cy="6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  <a:spcBef>
                <a:spcPct val="0"/>
              </a:spcBef>
            </a:pPr>
            <a:r>
              <a:rPr lang="en-US" sz="40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¿Qué nos permite el dashboard?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29963" y="6002632"/>
            <a:ext cx="4856308" cy="1300775"/>
            <a:chOff x="0" y="0"/>
            <a:chExt cx="1279028" cy="3425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79028" cy="342591"/>
            </a:xfrm>
            <a:custGeom>
              <a:avLst/>
              <a:gdLst/>
              <a:ahLst/>
              <a:cxnLst/>
              <a:rect l="l" t="t" r="r" b="b"/>
              <a:pathLst>
                <a:path w="1279028" h="342591">
                  <a:moveTo>
                    <a:pt x="81304" y="0"/>
                  </a:moveTo>
                  <a:lnTo>
                    <a:pt x="1197724" y="0"/>
                  </a:lnTo>
                  <a:cubicBezTo>
                    <a:pt x="1219287" y="0"/>
                    <a:pt x="1239967" y="8566"/>
                    <a:pt x="1255214" y="23813"/>
                  </a:cubicBezTo>
                  <a:cubicBezTo>
                    <a:pt x="1270462" y="39061"/>
                    <a:pt x="1279028" y="59741"/>
                    <a:pt x="1279028" y="81304"/>
                  </a:cubicBezTo>
                  <a:lnTo>
                    <a:pt x="1279028" y="261287"/>
                  </a:lnTo>
                  <a:cubicBezTo>
                    <a:pt x="1279028" y="282850"/>
                    <a:pt x="1270462" y="303530"/>
                    <a:pt x="1255214" y="318778"/>
                  </a:cubicBezTo>
                  <a:cubicBezTo>
                    <a:pt x="1239967" y="334025"/>
                    <a:pt x="1219287" y="342591"/>
                    <a:pt x="1197724" y="342591"/>
                  </a:cubicBezTo>
                  <a:lnTo>
                    <a:pt x="81304" y="342591"/>
                  </a:lnTo>
                  <a:cubicBezTo>
                    <a:pt x="59741" y="342591"/>
                    <a:pt x="39061" y="334025"/>
                    <a:pt x="23813" y="318778"/>
                  </a:cubicBezTo>
                  <a:cubicBezTo>
                    <a:pt x="8566" y="303530"/>
                    <a:pt x="0" y="282850"/>
                    <a:pt x="0" y="261287"/>
                  </a:cubicBezTo>
                  <a:lnTo>
                    <a:pt x="0" y="81304"/>
                  </a:lnTo>
                  <a:cubicBezTo>
                    <a:pt x="0" y="59741"/>
                    <a:pt x="8566" y="39061"/>
                    <a:pt x="23813" y="23813"/>
                  </a:cubicBezTo>
                  <a:cubicBezTo>
                    <a:pt x="39061" y="8566"/>
                    <a:pt x="59741" y="0"/>
                    <a:pt x="81304" y="0"/>
                  </a:cubicBezTo>
                  <a:close/>
                </a:path>
              </a:pathLst>
            </a:custGeom>
            <a:solidFill>
              <a:srgbClr val="E3E8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279028" cy="380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772464" y="6326234"/>
            <a:ext cx="3771305" cy="629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948" lvl="1" indent="-399474" algn="l">
              <a:lnSpc>
                <a:spcPts val="5180"/>
              </a:lnSpc>
              <a:spcBef>
                <a:spcPct val="0"/>
              </a:spcBef>
              <a:buAutoNum type="arabicPeriod"/>
            </a:pPr>
            <a:r>
              <a:rPr lang="en-US" sz="37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Visión global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495846" y="6002120"/>
            <a:ext cx="7335348" cy="1300775"/>
            <a:chOff x="0" y="0"/>
            <a:chExt cx="1931944" cy="3425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31944" cy="342591"/>
            </a:xfrm>
            <a:custGeom>
              <a:avLst/>
              <a:gdLst/>
              <a:ahLst/>
              <a:cxnLst/>
              <a:rect l="l" t="t" r="r" b="b"/>
              <a:pathLst>
                <a:path w="1931944" h="342591">
                  <a:moveTo>
                    <a:pt x="53827" y="0"/>
                  </a:moveTo>
                  <a:lnTo>
                    <a:pt x="1878117" y="0"/>
                  </a:lnTo>
                  <a:cubicBezTo>
                    <a:pt x="1907844" y="0"/>
                    <a:pt x="1931944" y="24099"/>
                    <a:pt x="1931944" y="53827"/>
                  </a:cubicBezTo>
                  <a:lnTo>
                    <a:pt x="1931944" y="288764"/>
                  </a:lnTo>
                  <a:cubicBezTo>
                    <a:pt x="1931944" y="318492"/>
                    <a:pt x="1907844" y="342591"/>
                    <a:pt x="1878117" y="342591"/>
                  </a:cubicBezTo>
                  <a:lnTo>
                    <a:pt x="53827" y="342591"/>
                  </a:lnTo>
                  <a:cubicBezTo>
                    <a:pt x="24099" y="342591"/>
                    <a:pt x="0" y="318492"/>
                    <a:pt x="0" y="288764"/>
                  </a:cubicBezTo>
                  <a:lnTo>
                    <a:pt x="0" y="53827"/>
                  </a:lnTo>
                  <a:cubicBezTo>
                    <a:pt x="0" y="24099"/>
                    <a:pt x="24099" y="0"/>
                    <a:pt x="53827" y="0"/>
                  </a:cubicBezTo>
                  <a:close/>
                </a:path>
              </a:pathLst>
            </a:custGeom>
            <a:solidFill>
              <a:srgbClr val="E3E8FF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931944" cy="3806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898301" y="6337554"/>
            <a:ext cx="6487120" cy="629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948" lvl="1" indent="-399474" algn="l">
              <a:lnSpc>
                <a:spcPts val="5180"/>
              </a:lnSpc>
              <a:spcBef>
                <a:spcPct val="0"/>
              </a:spcBef>
              <a:buAutoNum type="arabicPeriod"/>
            </a:pPr>
            <a:r>
              <a:rPr lang="en-US" sz="37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Identificación</a:t>
            </a:r>
            <a:r>
              <a:rPr lang="en-US" sz="37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drivers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161381" y="5043767"/>
            <a:ext cx="2139" cy="958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23" name="AutoShape 23"/>
          <p:cNvSpPr/>
          <p:nvPr/>
        </p:nvSpPr>
        <p:spPr>
          <a:xfrm>
            <a:off x="2658117" y="5043767"/>
            <a:ext cx="13006529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sp>
        <p:nvSpPr>
          <p:cNvPr id="24" name="AutoShape 24"/>
          <p:cNvSpPr/>
          <p:nvPr/>
        </p:nvSpPr>
        <p:spPr>
          <a:xfrm>
            <a:off x="2677167" y="5043725"/>
            <a:ext cx="2139" cy="958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25" name="AutoShape 25"/>
          <p:cNvSpPr/>
          <p:nvPr/>
        </p:nvSpPr>
        <p:spPr>
          <a:xfrm>
            <a:off x="15643457" y="5043682"/>
            <a:ext cx="2139" cy="958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s-ES"/>
          </a:p>
        </p:txBody>
      </p:sp>
      <p:sp>
        <p:nvSpPr>
          <p:cNvPr id="26" name="AutoShape 26"/>
          <p:cNvSpPr/>
          <p:nvPr/>
        </p:nvSpPr>
        <p:spPr>
          <a:xfrm>
            <a:off x="9141861" y="4089168"/>
            <a:ext cx="19520" cy="95459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96894" y="785623"/>
            <a:ext cx="10762406" cy="8152522"/>
          </a:xfrm>
          <a:custGeom>
            <a:avLst/>
            <a:gdLst/>
            <a:ahLst/>
            <a:cxnLst/>
            <a:rect l="l" t="t" r="r" b="b"/>
            <a:pathLst>
              <a:path w="10762406" h="8152522">
                <a:moveTo>
                  <a:pt x="0" y="0"/>
                </a:moveTo>
                <a:lnTo>
                  <a:pt x="10762406" y="0"/>
                </a:lnTo>
                <a:lnTo>
                  <a:pt x="10762406" y="8152523"/>
                </a:lnTo>
                <a:lnTo>
                  <a:pt x="0" y="81525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650731" y="662450"/>
            <a:ext cx="2695601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513594"/>
            <a:ext cx="4987080" cy="629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0"/>
              </a:lnSpc>
            </a:pPr>
            <a:r>
              <a:rPr lang="en-US" sz="3700" b="1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3" tooltip="https://lookerstudio.google.com/s/ideTN2PLL-A"/>
              </a:rPr>
              <a:t>Enlace al dashboard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92238" y="1384220"/>
            <a:ext cx="2810967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Visión global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0731" y="662450"/>
            <a:ext cx="2695601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98895" y="4149035"/>
            <a:ext cx="11090210" cy="1893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 orientado a la conversión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25839" y="5594557"/>
            <a:ext cx="11301259" cy="1850581"/>
          </a:xfrm>
          <a:custGeom>
            <a:avLst/>
            <a:gdLst/>
            <a:ahLst/>
            <a:cxnLst/>
            <a:rect l="l" t="t" r="r" b="b"/>
            <a:pathLst>
              <a:path w="11301259" h="1850581">
                <a:moveTo>
                  <a:pt x="0" y="0"/>
                </a:moveTo>
                <a:lnTo>
                  <a:pt x="11301259" y="0"/>
                </a:lnTo>
                <a:lnTo>
                  <a:pt x="11301259" y="1850582"/>
                </a:lnTo>
                <a:lnTo>
                  <a:pt x="0" y="18505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383039" y="1976644"/>
            <a:ext cx="7152566" cy="2960020"/>
            <a:chOff x="0" y="0"/>
            <a:chExt cx="1883803" cy="77959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83803" cy="779594"/>
            </a:xfrm>
            <a:custGeom>
              <a:avLst/>
              <a:gdLst/>
              <a:ahLst/>
              <a:cxnLst/>
              <a:rect l="l" t="t" r="r" b="b"/>
              <a:pathLst>
                <a:path w="1883803" h="779594">
                  <a:moveTo>
                    <a:pt x="55202" y="0"/>
                  </a:moveTo>
                  <a:lnTo>
                    <a:pt x="1828601" y="0"/>
                  </a:lnTo>
                  <a:cubicBezTo>
                    <a:pt x="1859088" y="0"/>
                    <a:pt x="1883803" y="24715"/>
                    <a:pt x="1883803" y="55202"/>
                  </a:cubicBezTo>
                  <a:lnTo>
                    <a:pt x="1883803" y="724392"/>
                  </a:lnTo>
                  <a:cubicBezTo>
                    <a:pt x="1883803" y="754879"/>
                    <a:pt x="1859088" y="779594"/>
                    <a:pt x="1828601" y="779594"/>
                  </a:cubicBezTo>
                  <a:lnTo>
                    <a:pt x="55202" y="779594"/>
                  </a:lnTo>
                  <a:cubicBezTo>
                    <a:pt x="24715" y="779594"/>
                    <a:pt x="0" y="754879"/>
                    <a:pt x="0" y="724392"/>
                  </a:cubicBezTo>
                  <a:lnTo>
                    <a:pt x="0" y="55202"/>
                  </a:lnTo>
                  <a:cubicBezTo>
                    <a:pt x="0" y="24715"/>
                    <a:pt x="24715" y="0"/>
                    <a:pt x="55202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83803" cy="8176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50731" y="662450"/>
            <a:ext cx="2695601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1443" y="2110804"/>
            <a:ext cx="8581615" cy="252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Kpis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Tasa de conversión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Conversiones totales</a:t>
            </a:r>
          </a:p>
          <a:p>
            <a:pPr marL="777240" lvl="1" indent="-38862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3600" b="1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clientes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0731" y="662450"/>
            <a:ext cx="2695601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598895" y="4633567"/>
            <a:ext cx="11090210" cy="92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10193" y="2526603"/>
            <a:ext cx="12843666" cy="5233794"/>
          </a:xfrm>
          <a:custGeom>
            <a:avLst/>
            <a:gdLst/>
            <a:ahLst/>
            <a:cxnLst/>
            <a:rect l="l" t="t" r="r" b="b"/>
            <a:pathLst>
              <a:path w="12843666" h="5233794">
                <a:moveTo>
                  <a:pt x="0" y="0"/>
                </a:moveTo>
                <a:lnTo>
                  <a:pt x="12843667" y="0"/>
                </a:lnTo>
                <a:lnTo>
                  <a:pt x="12843667" y="5233794"/>
                </a:lnTo>
                <a:lnTo>
                  <a:pt x="0" y="5233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650731" y="662450"/>
            <a:ext cx="211892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 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740" y="1515684"/>
            <a:ext cx="11090210" cy="56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primer contacto es clave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710193" y="2722780"/>
            <a:ext cx="13214101" cy="4971806"/>
          </a:xfrm>
          <a:custGeom>
            <a:avLst/>
            <a:gdLst/>
            <a:ahLst/>
            <a:cxnLst/>
            <a:rect l="l" t="t" r="r" b="b"/>
            <a:pathLst>
              <a:path w="13214101" h="4971806">
                <a:moveTo>
                  <a:pt x="0" y="0"/>
                </a:moveTo>
                <a:lnTo>
                  <a:pt x="13214102" y="0"/>
                </a:lnTo>
                <a:lnTo>
                  <a:pt x="13214102" y="4971806"/>
                </a:lnTo>
                <a:lnTo>
                  <a:pt x="0" y="49718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650731" y="662450"/>
            <a:ext cx="211892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 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740" y="1515684"/>
            <a:ext cx="11090210" cy="56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 calidad de la interacción impulsa la conversión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25092" y="2785732"/>
            <a:ext cx="13437817" cy="5005587"/>
          </a:xfrm>
          <a:custGeom>
            <a:avLst/>
            <a:gdLst/>
            <a:ahLst/>
            <a:cxnLst/>
            <a:rect l="l" t="t" r="r" b="b"/>
            <a:pathLst>
              <a:path w="13437817" h="5005587">
                <a:moveTo>
                  <a:pt x="0" y="0"/>
                </a:moveTo>
                <a:lnTo>
                  <a:pt x="13437816" y="0"/>
                </a:lnTo>
                <a:lnTo>
                  <a:pt x="13437816" y="5005586"/>
                </a:lnTo>
                <a:lnTo>
                  <a:pt x="0" y="5005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650731" y="662450"/>
            <a:ext cx="211892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Insight 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740" y="1515684"/>
            <a:ext cx="11090210" cy="56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contexto macroeconómico influye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0731" y="662450"/>
            <a:ext cx="2695601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94801" y="4633567"/>
            <a:ext cx="13892937" cy="92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Conversión = combinación de factores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50731" y="662450"/>
            <a:ext cx="2695601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94801" y="4633567"/>
            <a:ext cx="13892937" cy="924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Base para la toma de decisiones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40475" y="3477524"/>
            <a:ext cx="13466236" cy="3604180"/>
            <a:chOff x="0" y="0"/>
            <a:chExt cx="3546663" cy="9492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46663" cy="949249"/>
            </a:xfrm>
            <a:custGeom>
              <a:avLst/>
              <a:gdLst/>
              <a:ahLst/>
              <a:cxnLst/>
              <a:rect l="l" t="t" r="r" b="b"/>
              <a:pathLst>
                <a:path w="3546663" h="949249">
                  <a:moveTo>
                    <a:pt x="29321" y="0"/>
                  </a:moveTo>
                  <a:lnTo>
                    <a:pt x="3517342" y="0"/>
                  </a:lnTo>
                  <a:cubicBezTo>
                    <a:pt x="3525119" y="0"/>
                    <a:pt x="3532577" y="3089"/>
                    <a:pt x="3538075" y="8588"/>
                  </a:cubicBezTo>
                  <a:cubicBezTo>
                    <a:pt x="3543574" y="14086"/>
                    <a:pt x="3546663" y="21544"/>
                    <a:pt x="3546663" y="29321"/>
                  </a:cubicBezTo>
                  <a:lnTo>
                    <a:pt x="3546663" y="919929"/>
                  </a:lnTo>
                  <a:cubicBezTo>
                    <a:pt x="3546663" y="927705"/>
                    <a:pt x="3543574" y="935163"/>
                    <a:pt x="3538075" y="940661"/>
                  </a:cubicBezTo>
                  <a:cubicBezTo>
                    <a:pt x="3532577" y="946160"/>
                    <a:pt x="3525119" y="949249"/>
                    <a:pt x="3517342" y="949249"/>
                  </a:cubicBezTo>
                  <a:lnTo>
                    <a:pt x="29321" y="949249"/>
                  </a:lnTo>
                  <a:cubicBezTo>
                    <a:pt x="21544" y="949249"/>
                    <a:pt x="14086" y="946160"/>
                    <a:pt x="8588" y="940661"/>
                  </a:cubicBezTo>
                  <a:cubicBezTo>
                    <a:pt x="3089" y="935163"/>
                    <a:pt x="0" y="927705"/>
                    <a:pt x="0" y="919929"/>
                  </a:cubicBezTo>
                  <a:lnTo>
                    <a:pt x="0" y="29321"/>
                  </a:lnTo>
                  <a:cubicBezTo>
                    <a:pt x="0" y="21544"/>
                    <a:pt x="3089" y="14086"/>
                    <a:pt x="8588" y="8588"/>
                  </a:cubicBezTo>
                  <a:cubicBezTo>
                    <a:pt x="14086" y="3089"/>
                    <a:pt x="21544" y="0"/>
                    <a:pt x="29321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46663" cy="987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524253" y="4410617"/>
            <a:ext cx="10868147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Recomendaciones</a:t>
            </a:r>
            <a:endParaRPr lang="en-US" sz="9200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927131" y="9220200"/>
            <a:ext cx="2332137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4825" y="9220200"/>
            <a:ext cx="1999952" cy="32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66752" y="4410617"/>
            <a:ext cx="125750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549353"/>
            <a:ext cx="1166101" cy="1168225"/>
          </a:xfrm>
          <a:custGeom>
            <a:avLst/>
            <a:gdLst/>
            <a:ahLst/>
            <a:cxnLst/>
            <a:rect l="l" t="t" r="r" b="b"/>
            <a:pathLst>
              <a:path w="1166101" h="1168225">
                <a:moveTo>
                  <a:pt x="0" y="0"/>
                </a:moveTo>
                <a:lnTo>
                  <a:pt x="1166101" y="0"/>
                </a:lnTo>
                <a:lnTo>
                  <a:pt x="1166101" y="1168225"/>
                </a:lnTo>
                <a:lnTo>
                  <a:pt x="0" y="11682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039" y="1672676"/>
            <a:ext cx="6621610" cy="2013568"/>
            <a:chOff x="0" y="0"/>
            <a:chExt cx="1743963" cy="5303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3963" cy="530322"/>
            </a:xfrm>
            <a:custGeom>
              <a:avLst/>
              <a:gdLst/>
              <a:ahLst/>
              <a:cxnLst/>
              <a:rect l="l" t="t" r="r" b="b"/>
              <a:pathLst>
                <a:path w="1743963" h="530322">
                  <a:moveTo>
                    <a:pt x="59629" y="0"/>
                  </a:moveTo>
                  <a:lnTo>
                    <a:pt x="1684335" y="0"/>
                  </a:lnTo>
                  <a:cubicBezTo>
                    <a:pt x="1700149" y="0"/>
                    <a:pt x="1715316" y="6282"/>
                    <a:pt x="1726498" y="17465"/>
                  </a:cubicBezTo>
                  <a:cubicBezTo>
                    <a:pt x="1737681" y="28647"/>
                    <a:pt x="1743963" y="43814"/>
                    <a:pt x="1743963" y="59629"/>
                  </a:cubicBezTo>
                  <a:lnTo>
                    <a:pt x="1743963" y="470694"/>
                  </a:lnTo>
                  <a:cubicBezTo>
                    <a:pt x="1743963" y="486508"/>
                    <a:pt x="1737681" y="501675"/>
                    <a:pt x="1726498" y="512858"/>
                  </a:cubicBezTo>
                  <a:cubicBezTo>
                    <a:pt x="1715316" y="524040"/>
                    <a:pt x="1700149" y="530322"/>
                    <a:pt x="1684335" y="530322"/>
                  </a:cubicBezTo>
                  <a:lnTo>
                    <a:pt x="59629" y="530322"/>
                  </a:lnTo>
                  <a:cubicBezTo>
                    <a:pt x="26697" y="530322"/>
                    <a:pt x="0" y="503626"/>
                    <a:pt x="0" y="470694"/>
                  </a:cubicBezTo>
                  <a:lnTo>
                    <a:pt x="0" y="59629"/>
                  </a:lnTo>
                  <a:cubicBezTo>
                    <a:pt x="0" y="43814"/>
                    <a:pt x="6282" y="28647"/>
                    <a:pt x="17465" y="17465"/>
                  </a:cubicBezTo>
                  <a:cubicBezTo>
                    <a:pt x="28647" y="6282"/>
                    <a:pt x="43814" y="0"/>
                    <a:pt x="59629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43963" cy="56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043158" y="1659458"/>
            <a:ext cx="6621610" cy="2013568"/>
            <a:chOff x="0" y="0"/>
            <a:chExt cx="1743963" cy="5303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43963" cy="530322"/>
            </a:xfrm>
            <a:custGeom>
              <a:avLst/>
              <a:gdLst/>
              <a:ahLst/>
              <a:cxnLst/>
              <a:rect l="l" t="t" r="r" b="b"/>
              <a:pathLst>
                <a:path w="1743963" h="530322">
                  <a:moveTo>
                    <a:pt x="59629" y="0"/>
                  </a:moveTo>
                  <a:lnTo>
                    <a:pt x="1684335" y="0"/>
                  </a:lnTo>
                  <a:cubicBezTo>
                    <a:pt x="1700149" y="0"/>
                    <a:pt x="1715316" y="6282"/>
                    <a:pt x="1726498" y="17465"/>
                  </a:cubicBezTo>
                  <a:cubicBezTo>
                    <a:pt x="1737681" y="28647"/>
                    <a:pt x="1743963" y="43814"/>
                    <a:pt x="1743963" y="59629"/>
                  </a:cubicBezTo>
                  <a:lnTo>
                    <a:pt x="1743963" y="470694"/>
                  </a:lnTo>
                  <a:cubicBezTo>
                    <a:pt x="1743963" y="486508"/>
                    <a:pt x="1737681" y="501675"/>
                    <a:pt x="1726498" y="512858"/>
                  </a:cubicBezTo>
                  <a:cubicBezTo>
                    <a:pt x="1715316" y="524040"/>
                    <a:pt x="1700149" y="530322"/>
                    <a:pt x="1684335" y="530322"/>
                  </a:cubicBezTo>
                  <a:lnTo>
                    <a:pt x="59629" y="530322"/>
                  </a:lnTo>
                  <a:cubicBezTo>
                    <a:pt x="26697" y="530322"/>
                    <a:pt x="0" y="503626"/>
                    <a:pt x="0" y="470694"/>
                  </a:cubicBezTo>
                  <a:lnTo>
                    <a:pt x="0" y="59629"/>
                  </a:lnTo>
                  <a:cubicBezTo>
                    <a:pt x="0" y="43814"/>
                    <a:pt x="6282" y="28647"/>
                    <a:pt x="17465" y="17465"/>
                  </a:cubicBezTo>
                  <a:cubicBezTo>
                    <a:pt x="28647" y="6282"/>
                    <a:pt x="43814" y="0"/>
                    <a:pt x="59629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43963" cy="56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521019" y="420770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4693844" y="5487800"/>
            <a:ext cx="568646" cy="568646"/>
          </a:xfrm>
          <a:custGeom>
            <a:avLst/>
            <a:gdLst/>
            <a:ahLst/>
            <a:cxnLst/>
            <a:rect l="l" t="t" r="r" b="b"/>
            <a:pathLst>
              <a:path w="568646" h="568646">
                <a:moveTo>
                  <a:pt x="0" y="0"/>
                </a:moveTo>
                <a:lnTo>
                  <a:pt x="568646" y="0"/>
                </a:lnTo>
                <a:lnTo>
                  <a:pt x="568646" y="568645"/>
                </a:lnTo>
                <a:lnTo>
                  <a:pt x="0" y="56864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5262490" y="4752060"/>
            <a:ext cx="568646" cy="568646"/>
          </a:xfrm>
          <a:custGeom>
            <a:avLst/>
            <a:gdLst/>
            <a:ahLst/>
            <a:cxnLst/>
            <a:rect l="l" t="t" r="r" b="b"/>
            <a:pathLst>
              <a:path w="568646" h="568646">
                <a:moveTo>
                  <a:pt x="0" y="0"/>
                </a:moveTo>
                <a:lnTo>
                  <a:pt x="568646" y="0"/>
                </a:lnTo>
                <a:lnTo>
                  <a:pt x="568646" y="568646"/>
                </a:lnTo>
                <a:lnTo>
                  <a:pt x="0" y="568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>
          <a:xfrm>
            <a:off x="3604201" y="5143500"/>
            <a:ext cx="568646" cy="568646"/>
          </a:xfrm>
          <a:custGeom>
            <a:avLst/>
            <a:gdLst/>
            <a:ahLst/>
            <a:cxnLst/>
            <a:rect l="l" t="t" r="r" b="b"/>
            <a:pathLst>
              <a:path w="568646" h="568646">
                <a:moveTo>
                  <a:pt x="0" y="0"/>
                </a:moveTo>
                <a:lnTo>
                  <a:pt x="568646" y="0"/>
                </a:lnTo>
                <a:lnTo>
                  <a:pt x="568646" y="568646"/>
                </a:lnTo>
                <a:lnTo>
                  <a:pt x="0" y="568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Freeform 12"/>
          <p:cNvSpPr/>
          <p:nvPr/>
        </p:nvSpPr>
        <p:spPr>
          <a:xfrm>
            <a:off x="3035555" y="6187949"/>
            <a:ext cx="568646" cy="568646"/>
          </a:xfrm>
          <a:custGeom>
            <a:avLst/>
            <a:gdLst/>
            <a:ahLst/>
            <a:cxnLst/>
            <a:rect l="l" t="t" r="r" b="b"/>
            <a:pathLst>
              <a:path w="568646" h="568646">
                <a:moveTo>
                  <a:pt x="0" y="0"/>
                </a:moveTo>
                <a:lnTo>
                  <a:pt x="568646" y="0"/>
                </a:lnTo>
                <a:lnTo>
                  <a:pt x="568646" y="568646"/>
                </a:lnTo>
                <a:lnTo>
                  <a:pt x="0" y="568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Freeform 13"/>
          <p:cNvSpPr/>
          <p:nvPr/>
        </p:nvSpPr>
        <p:spPr>
          <a:xfrm>
            <a:off x="5262490" y="6877403"/>
            <a:ext cx="568646" cy="568646"/>
          </a:xfrm>
          <a:custGeom>
            <a:avLst/>
            <a:gdLst/>
            <a:ahLst/>
            <a:cxnLst/>
            <a:rect l="l" t="t" r="r" b="b"/>
            <a:pathLst>
              <a:path w="568646" h="568646">
                <a:moveTo>
                  <a:pt x="0" y="0"/>
                </a:moveTo>
                <a:lnTo>
                  <a:pt x="568646" y="0"/>
                </a:lnTo>
                <a:lnTo>
                  <a:pt x="568646" y="568646"/>
                </a:lnTo>
                <a:lnTo>
                  <a:pt x="0" y="568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14"/>
          <p:cNvSpPr/>
          <p:nvPr/>
        </p:nvSpPr>
        <p:spPr>
          <a:xfrm>
            <a:off x="3888524" y="7169471"/>
            <a:ext cx="568646" cy="568646"/>
          </a:xfrm>
          <a:custGeom>
            <a:avLst/>
            <a:gdLst/>
            <a:ahLst/>
            <a:cxnLst/>
            <a:rect l="l" t="t" r="r" b="b"/>
            <a:pathLst>
              <a:path w="568646" h="568646">
                <a:moveTo>
                  <a:pt x="0" y="0"/>
                </a:moveTo>
                <a:lnTo>
                  <a:pt x="568646" y="0"/>
                </a:lnTo>
                <a:lnTo>
                  <a:pt x="568646" y="568646"/>
                </a:lnTo>
                <a:lnTo>
                  <a:pt x="0" y="5686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Freeform 15"/>
          <p:cNvSpPr/>
          <p:nvPr/>
        </p:nvSpPr>
        <p:spPr>
          <a:xfrm>
            <a:off x="10518194" y="4207707"/>
            <a:ext cx="3156410" cy="3104760"/>
          </a:xfrm>
          <a:custGeom>
            <a:avLst/>
            <a:gdLst/>
            <a:ahLst/>
            <a:cxnLst/>
            <a:rect l="l" t="t" r="r" b="b"/>
            <a:pathLst>
              <a:path w="3156410" h="3104760">
                <a:moveTo>
                  <a:pt x="0" y="0"/>
                </a:moveTo>
                <a:lnTo>
                  <a:pt x="3156410" y="0"/>
                </a:lnTo>
                <a:lnTo>
                  <a:pt x="3156410" y="3104760"/>
                </a:lnTo>
                <a:lnTo>
                  <a:pt x="0" y="3104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Freeform 16"/>
          <p:cNvSpPr/>
          <p:nvPr/>
        </p:nvSpPr>
        <p:spPr>
          <a:xfrm>
            <a:off x="14484229" y="6472272"/>
            <a:ext cx="2088341" cy="2234606"/>
          </a:xfrm>
          <a:custGeom>
            <a:avLst/>
            <a:gdLst/>
            <a:ahLst/>
            <a:cxnLst/>
            <a:rect l="l" t="t" r="r" b="b"/>
            <a:pathLst>
              <a:path w="2088341" h="2234606">
                <a:moveTo>
                  <a:pt x="0" y="0"/>
                </a:moveTo>
                <a:lnTo>
                  <a:pt x="2088341" y="0"/>
                </a:lnTo>
                <a:lnTo>
                  <a:pt x="2088341" y="2234606"/>
                </a:lnTo>
                <a:lnTo>
                  <a:pt x="0" y="2234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7" name="TextBox 17"/>
          <p:cNvSpPr txBox="1"/>
          <p:nvPr/>
        </p:nvSpPr>
        <p:spPr>
          <a:xfrm>
            <a:off x="1650731" y="662450"/>
            <a:ext cx="4475586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Recomendaciones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24538" y="2020330"/>
            <a:ext cx="5907762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Segmentación avanzada y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priorización de perfiles.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67168" y="1978734"/>
            <a:ext cx="3973592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Optimización del 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primer contacto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 flipV="1">
            <a:off x="4572906" y="4492279"/>
            <a:ext cx="9986" cy="1302442"/>
          </a:xfrm>
          <a:prstGeom prst="line">
            <a:avLst/>
          </a:prstGeom>
          <a:ln w="95250" cap="flat">
            <a:solidFill>
              <a:srgbClr val="512AD5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1784081" y="1811219"/>
            <a:ext cx="5881348" cy="2013568"/>
            <a:chOff x="0" y="0"/>
            <a:chExt cx="1548997" cy="5303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48997" cy="530322"/>
            </a:xfrm>
            <a:custGeom>
              <a:avLst/>
              <a:gdLst/>
              <a:ahLst/>
              <a:cxnLst/>
              <a:rect l="l" t="t" r="r" b="b"/>
              <a:pathLst>
                <a:path w="1548997" h="530322">
                  <a:moveTo>
                    <a:pt x="67134" y="0"/>
                  </a:moveTo>
                  <a:lnTo>
                    <a:pt x="1481863" y="0"/>
                  </a:lnTo>
                  <a:cubicBezTo>
                    <a:pt x="1518940" y="0"/>
                    <a:pt x="1548997" y="30057"/>
                    <a:pt x="1548997" y="67134"/>
                  </a:cubicBezTo>
                  <a:lnTo>
                    <a:pt x="1548997" y="463188"/>
                  </a:lnTo>
                  <a:cubicBezTo>
                    <a:pt x="1548997" y="480994"/>
                    <a:pt x="1541924" y="498069"/>
                    <a:pt x="1529334" y="510659"/>
                  </a:cubicBezTo>
                  <a:cubicBezTo>
                    <a:pt x="1516744" y="523249"/>
                    <a:pt x="1499668" y="530322"/>
                    <a:pt x="1481863" y="530322"/>
                  </a:cubicBezTo>
                  <a:lnTo>
                    <a:pt x="67134" y="530322"/>
                  </a:lnTo>
                  <a:cubicBezTo>
                    <a:pt x="30057" y="530322"/>
                    <a:pt x="0" y="500266"/>
                    <a:pt x="0" y="463188"/>
                  </a:cubicBezTo>
                  <a:lnTo>
                    <a:pt x="0" y="67134"/>
                  </a:lnTo>
                  <a:cubicBezTo>
                    <a:pt x="0" y="30057"/>
                    <a:pt x="30057" y="0"/>
                    <a:pt x="67134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48997" cy="56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84081" y="6110536"/>
            <a:ext cx="5881348" cy="2013568"/>
            <a:chOff x="0" y="0"/>
            <a:chExt cx="1548997" cy="5303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48997" cy="530322"/>
            </a:xfrm>
            <a:custGeom>
              <a:avLst/>
              <a:gdLst/>
              <a:ahLst/>
              <a:cxnLst/>
              <a:rect l="l" t="t" r="r" b="b"/>
              <a:pathLst>
                <a:path w="1548997" h="530322">
                  <a:moveTo>
                    <a:pt x="67134" y="0"/>
                  </a:moveTo>
                  <a:lnTo>
                    <a:pt x="1481863" y="0"/>
                  </a:lnTo>
                  <a:cubicBezTo>
                    <a:pt x="1518940" y="0"/>
                    <a:pt x="1548997" y="30057"/>
                    <a:pt x="1548997" y="67134"/>
                  </a:cubicBezTo>
                  <a:lnTo>
                    <a:pt x="1548997" y="463188"/>
                  </a:lnTo>
                  <a:cubicBezTo>
                    <a:pt x="1548997" y="480994"/>
                    <a:pt x="1541924" y="498069"/>
                    <a:pt x="1529334" y="510659"/>
                  </a:cubicBezTo>
                  <a:cubicBezTo>
                    <a:pt x="1516744" y="523249"/>
                    <a:pt x="1499668" y="530322"/>
                    <a:pt x="1481863" y="530322"/>
                  </a:cubicBezTo>
                  <a:lnTo>
                    <a:pt x="67134" y="530322"/>
                  </a:lnTo>
                  <a:cubicBezTo>
                    <a:pt x="30057" y="530322"/>
                    <a:pt x="0" y="500266"/>
                    <a:pt x="0" y="463188"/>
                  </a:cubicBezTo>
                  <a:lnTo>
                    <a:pt x="0" y="67134"/>
                  </a:lnTo>
                  <a:cubicBezTo>
                    <a:pt x="0" y="30057"/>
                    <a:pt x="30057" y="0"/>
                    <a:pt x="67134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548997" cy="56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816567" y="1318750"/>
            <a:ext cx="6844910" cy="3550284"/>
          </a:xfrm>
          <a:custGeom>
            <a:avLst/>
            <a:gdLst/>
            <a:ahLst/>
            <a:cxnLst/>
            <a:rect l="l" t="t" r="r" b="b"/>
            <a:pathLst>
              <a:path w="6844910" h="3550284">
                <a:moveTo>
                  <a:pt x="0" y="0"/>
                </a:moveTo>
                <a:lnTo>
                  <a:pt x="6844909" y="0"/>
                </a:lnTo>
                <a:lnTo>
                  <a:pt x="6844909" y="3550285"/>
                </a:lnTo>
                <a:lnTo>
                  <a:pt x="0" y="3550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9816567" y="5331386"/>
            <a:ext cx="6356344" cy="3167602"/>
          </a:xfrm>
          <a:custGeom>
            <a:avLst/>
            <a:gdLst/>
            <a:ahLst/>
            <a:cxnLst/>
            <a:rect l="l" t="t" r="r" b="b"/>
            <a:pathLst>
              <a:path w="6356344" h="3167602">
                <a:moveTo>
                  <a:pt x="0" y="0"/>
                </a:moveTo>
                <a:lnTo>
                  <a:pt x="6356344" y="0"/>
                </a:lnTo>
                <a:lnTo>
                  <a:pt x="6356344" y="3167602"/>
                </a:lnTo>
                <a:lnTo>
                  <a:pt x="0" y="3167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2" t="-33265" r="-12077" b="-18679"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11" name="Group 11"/>
          <p:cNvGrpSpPr/>
          <p:nvPr/>
        </p:nvGrpSpPr>
        <p:grpSpPr>
          <a:xfrm>
            <a:off x="13936559" y="7951546"/>
            <a:ext cx="2724918" cy="660566"/>
            <a:chOff x="0" y="0"/>
            <a:chExt cx="717674" cy="1739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17674" cy="173976"/>
            </a:xfrm>
            <a:custGeom>
              <a:avLst/>
              <a:gdLst/>
              <a:ahLst/>
              <a:cxnLst/>
              <a:rect l="l" t="t" r="r" b="b"/>
              <a:pathLst>
                <a:path w="717674" h="173976">
                  <a:moveTo>
                    <a:pt x="0" y="0"/>
                  </a:moveTo>
                  <a:lnTo>
                    <a:pt x="717674" y="0"/>
                  </a:lnTo>
                  <a:lnTo>
                    <a:pt x="717674" y="173976"/>
                  </a:lnTo>
                  <a:lnTo>
                    <a:pt x="0" y="173976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717674" cy="212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50731" y="2158873"/>
            <a:ext cx="6437803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Mejora de la calidad  </a:t>
            </a:r>
          </a:p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 la interacción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50731" y="6458190"/>
            <a:ext cx="6437803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Gestión eficiente del número de contactos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50731" y="662450"/>
            <a:ext cx="4475586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Recomendaciones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4740" y="2023673"/>
            <a:ext cx="5881348" cy="2013568"/>
            <a:chOff x="0" y="0"/>
            <a:chExt cx="1548997" cy="5303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48997" cy="530322"/>
            </a:xfrm>
            <a:custGeom>
              <a:avLst/>
              <a:gdLst/>
              <a:ahLst/>
              <a:cxnLst/>
              <a:rect l="l" t="t" r="r" b="b"/>
              <a:pathLst>
                <a:path w="1548997" h="530322">
                  <a:moveTo>
                    <a:pt x="67134" y="0"/>
                  </a:moveTo>
                  <a:lnTo>
                    <a:pt x="1481863" y="0"/>
                  </a:lnTo>
                  <a:cubicBezTo>
                    <a:pt x="1518940" y="0"/>
                    <a:pt x="1548997" y="30057"/>
                    <a:pt x="1548997" y="67134"/>
                  </a:cubicBezTo>
                  <a:lnTo>
                    <a:pt x="1548997" y="463188"/>
                  </a:lnTo>
                  <a:cubicBezTo>
                    <a:pt x="1548997" y="480994"/>
                    <a:pt x="1541924" y="498069"/>
                    <a:pt x="1529334" y="510659"/>
                  </a:cubicBezTo>
                  <a:cubicBezTo>
                    <a:pt x="1516744" y="523249"/>
                    <a:pt x="1499668" y="530322"/>
                    <a:pt x="1481863" y="530322"/>
                  </a:cubicBezTo>
                  <a:lnTo>
                    <a:pt x="67134" y="530322"/>
                  </a:lnTo>
                  <a:cubicBezTo>
                    <a:pt x="30057" y="530322"/>
                    <a:pt x="0" y="500266"/>
                    <a:pt x="0" y="463188"/>
                  </a:cubicBezTo>
                  <a:lnTo>
                    <a:pt x="0" y="67134"/>
                  </a:lnTo>
                  <a:cubicBezTo>
                    <a:pt x="0" y="30057"/>
                    <a:pt x="30057" y="0"/>
                    <a:pt x="67134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548997" cy="56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7685937" y="3117021"/>
            <a:ext cx="1458063" cy="19050"/>
          </a:xfrm>
          <a:prstGeom prst="line">
            <a:avLst/>
          </a:prstGeom>
          <a:ln w="95250" cap="flat">
            <a:solidFill>
              <a:srgbClr val="512AD5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ES"/>
          </a:p>
        </p:txBody>
      </p:sp>
      <p:sp>
        <p:nvSpPr>
          <p:cNvPr id="6" name="Freeform 6"/>
          <p:cNvSpPr/>
          <p:nvPr/>
        </p:nvSpPr>
        <p:spPr>
          <a:xfrm>
            <a:off x="11940978" y="5647925"/>
            <a:ext cx="2723367" cy="2548660"/>
          </a:xfrm>
          <a:custGeom>
            <a:avLst/>
            <a:gdLst/>
            <a:ahLst/>
            <a:cxnLst/>
            <a:rect l="l" t="t" r="r" b="b"/>
            <a:pathLst>
              <a:path w="2723367" h="2548660">
                <a:moveTo>
                  <a:pt x="0" y="0"/>
                </a:moveTo>
                <a:lnTo>
                  <a:pt x="2723367" y="0"/>
                </a:lnTo>
                <a:lnTo>
                  <a:pt x="2723367" y="2548660"/>
                </a:lnTo>
                <a:lnTo>
                  <a:pt x="0" y="2548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7" name="Freeform 7"/>
          <p:cNvSpPr/>
          <p:nvPr/>
        </p:nvSpPr>
        <p:spPr>
          <a:xfrm>
            <a:off x="15229429" y="5379949"/>
            <a:ext cx="2321205" cy="2807909"/>
          </a:xfrm>
          <a:custGeom>
            <a:avLst/>
            <a:gdLst/>
            <a:ahLst/>
            <a:cxnLst/>
            <a:rect l="l" t="t" r="r" b="b"/>
            <a:pathLst>
              <a:path w="2321205" h="2807909">
                <a:moveTo>
                  <a:pt x="0" y="0"/>
                </a:moveTo>
                <a:lnTo>
                  <a:pt x="2321205" y="0"/>
                </a:lnTo>
                <a:lnTo>
                  <a:pt x="2321205" y="2807909"/>
                </a:lnTo>
                <a:lnTo>
                  <a:pt x="0" y="28079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grpSp>
        <p:nvGrpSpPr>
          <p:cNvPr id="8" name="Group 8"/>
          <p:cNvGrpSpPr/>
          <p:nvPr/>
        </p:nvGrpSpPr>
        <p:grpSpPr>
          <a:xfrm>
            <a:off x="981997" y="5909135"/>
            <a:ext cx="6225060" cy="2102440"/>
            <a:chOff x="0" y="0"/>
            <a:chExt cx="1639522" cy="5537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39522" cy="553729"/>
            </a:xfrm>
            <a:custGeom>
              <a:avLst/>
              <a:gdLst/>
              <a:ahLst/>
              <a:cxnLst/>
              <a:rect l="l" t="t" r="r" b="b"/>
              <a:pathLst>
                <a:path w="1639522" h="553729">
                  <a:moveTo>
                    <a:pt x="63427" y="0"/>
                  </a:moveTo>
                  <a:lnTo>
                    <a:pt x="1576095" y="0"/>
                  </a:lnTo>
                  <a:cubicBezTo>
                    <a:pt x="1611125" y="0"/>
                    <a:pt x="1639522" y="28397"/>
                    <a:pt x="1639522" y="63427"/>
                  </a:cubicBezTo>
                  <a:lnTo>
                    <a:pt x="1639522" y="490302"/>
                  </a:lnTo>
                  <a:cubicBezTo>
                    <a:pt x="1639522" y="525332"/>
                    <a:pt x="1611125" y="553729"/>
                    <a:pt x="1576095" y="553729"/>
                  </a:cubicBezTo>
                  <a:lnTo>
                    <a:pt x="63427" y="553729"/>
                  </a:lnTo>
                  <a:cubicBezTo>
                    <a:pt x="28397" y="553729"/>
                    <a:pt x="0" y="525332"/>
                    <a:pt x="0" y="490302"/>
                  </a:cubicBezTo>
                  <a:lnTo>
                    <a:pt x="0" y="63427"/>
                  </a:lnTo>
                  <a:cubicBezTo>
                    <a:pt x="0" y="28397"/>
                    <a:pt x="28397" y="0"/>
                    <a:pt x="63427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39522" cy="5918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7419801" y="6941305"/>
            <a:ext cx="1458063" cy="0"/>
          </a:xfrm>
          <a:prstGeom prst="line">
            <a:avLst/>
          </a:prstGeom>
          <a:ln w="95250" cap="flat">
            <a:solidFill>
              <a:srgbClr val="512AD5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ES"/>
          </a:p>
        </p:txBody>
      </p:sp>
      <p:sp>
        <p:nvSpPr>
          <p:cNvPr id="12" name="AutoShape 12"/>
          <p:cNvSpPr/>
          <p:nvPr/>
        </p:nvSpPr>
        <p:spPr>
          <a:xfrm>
            <a:off x="11310826" y="7080405"/>
            <a:ext cx="562127" cy="0"/>
          </a:xfrm>
          <a:prstGeom prst="line">
            <a:avLst/>
          </a:prstGeom>
          <a:ln w="38100" cap="flat">
            <a:solidFill>
              <a:srgbClr val="512AD5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ES"/>
          </a:p>
        </p:txBody>
      </p:sp>
      <p:sp>
        <p:nvSpPr>
          <p:cNvPr id="13" name="AutoShape 13"/>
          <p:cNvSpPr/>
          <p:nvPr/>
        </p:nvSpPr>
        <p:spPr>
          <a:xfrm>
            <a:off x="14523897" y="6960355"/>
            <a:ext cx="562127" cy="0"/>
          </a:xfrm>
          <a:prstGeom prst="line">
            <a:avLst/>
          </a:prstGeom>
          <a:ln w="38100" cap="flat">
            <a:solidFill>
              <a:srgbClr val="512AD5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s-ES"/>
          </a:p>
        </p:txBody>
      </p:sp>
      <p:sp>
        <p:nvSpPr>
          <p:cNvPr id="14" name="Freeform 14"/>
          <p:cNvSpPr/>
          <p:nvPr/>
        </p:nvSpPr>
        <p:spPr>
          <a:xfrm>
            <a:off x="14171590" y="1543297"/>
            <a:ext cx="2549571" cy="2493944"/>
          </a:xfrm>
          <a:custGeom>
            <a:avLst/>
            <a:gdLst/>
            <a:ahLst/>
            <a:cxnLst/>
            <a:rect l="l" t="t" r="r" b="b"/>
            <a:pathLst>
              <a:path w="2549571" h="2493944">
                <a:moveTo>
                  <a:pt x="0" y="0"/>
                </a:moveTo>
                <a:lnTo>
                  <a:pt x="2549571" y="0"/>
                </a:lnTo>
                <a:lnTo>
                  <a:pt x="2549571" y="2493944"/>
                </a:lnTo>
                <a:lnTo>
                  <a:pt x="0" y="24939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5" name="Freeform 15"/>
          <p:cNvSpPr/>
          <p:nvPr/>
        </p:nvSpPr>
        <p:spPr>
          <a:xfrm>
            <a:off x="10040124" y="1597729"/>
            <a:ext cx="2503304" cy="2503304"/>
          </a:xfrm>
          <a:custGeom>
            <a:avLst/>
            <a:gdLst/>
            <a:ahLst/>
            <a:cxnLst/>
            <a:rect l="l" t="t" r="r" b="b"/>
            <a:pathLst>
              <a:path w="2503304" h="2503304">
                <a:moveTo>
                  <a:pt x="0" y="0"/>
                </a:moveTo>
                <a:lnTo>
                  <a:pt x="2503303" y="0"/>
                </a:lnTo>
                <a:lnTo>
                  <a:pt x="2503303" y="2503304"/>
                </a:lnTo>
                <a:lnTo>
                  <a:pt x="0" y="25033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AutoShape 16"/>
          <p:cNvSpPr/>
          <p:nvPr/>
        </p:nvSpPr>
        <p:spPr>
          <a:xfrm flipV="1">
            <a:off x="12544050" y="2723598"/>
            <a:ext cx="1458063" cy="19050"/>
          </a:xfrm>
          <a:prstGeom prst="line">
            <a:avLst/>
          </a:prstGeom>
          <a:ln w="95250" cap="flat">
            <a:solidFill>
              <a:srgbClr val="512AD5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endParaRPr lang="es-ES"/>
          </a:p>
        </p:txBody>
      </p:sp>
      <p:sp>
        <p:nvSpPr>
          <p:cNvPr id="17" name="Freeform 17"/>
          <p:cNvSpPr/>
          <p:nvPr/>
        </p:nvSpPr>
        <p:spPr>
          <a:xfrm>
            <a:off x="8985223" y="5892804"/>
            <a:ext cx="2268453" cy="2268453"/>
          </a:xfrm>
          <a:custGeom>
            <a:avLst/>
            <a:gdLst/>
            <a:ahLst/>
            <a:cxnLst/>
            <a:rect l="l" t="t" r="r" b="b"/>
            <a:pathLst>
              <a:path w="2268453" h="2268453">
                <a:moveTo>
                  <a:pt x="0" y="0"/>
                </a:moveTo>
                <a:lnTo>
                  <a:pt x="2268453" y="0"/>
                </a:lnTo>
                <a:lnTo>
                  <a:pt x="2268453" y="2268452"/>
                </a:lnTo>
                <a:lnTo>
                  <a:pt x="0" y="22684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8" name="TextBox 18"/>
          <p:cNvSpPr txBox="1"/>
          <p:nvPr/>
        </p:nvSpPr>
        <p:spPr>
          <a:xfrm>
            <a:off x="981997" y="2436530"/>
            <a:ext cx="6437803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Estrategia basada en la recencia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1997" y="6301225"/>
            <a:ext cx="6437803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Fidelización y explotación de clientes existentes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50731" y="662450"/>
            <a:ext cx="4475586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Recomendaciones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3039" y="1672676"/>
            <a:ext cx="6621610" cy="2013568"/>
            <a:chOff x="0" y="0"/>
            <a:chExt cx="1743963" cy="5303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43963" cy="530322"/>
            </a:xfrm>
            <a:custGeom>
              <a:avLst/>
              <a:gdLst/>
              <a:ahLst/>
              <a:cxnLst/>
              <a:rect l="l" t="t" r="r" b="b"/>
              <a:pathLst>
                <a:path w="1743963" h="530322">
                  <a:moveTo>
                    <a:pt x="59629" y="0"/>
                  </a:moveTo>
                  <a:lnTo>
                    <a:pt x="1684335" y="0"/>
                  </a:lnTo>
                  <a:cubicBezTo>
                    <a:pt x="1700149" y="0"/>
                    <a:pt x="1715316" y="6282"/>
                    <a:pt x="1726498" y="17465"/>
                  </a:cubicBezTo>
                  <a:cubicBezTo>
                    <a:pt x="1737681" y="28647"/>
                    <a:pt x="1743963" y="43814"/>
                    <a:pt x="1743963" y="59629"/>
                  </a:cubicBezTo>
                  <a:lnTo>
                    <a:pt x="1743963" y="470694"/>
                  </a:lnTo>
                  <a:cubicBezTo>
                    <a:pt x="1743963" y="486508"/>
                    <a:pt x="1737681" y="501675"/>
                    <a:pt x="1726498" y="512858"/>
                  </a:cubicBezTo>
                  <a:cubicBezTo>
                    <a:pt x="1715316" y="524040"/>
                    <a:pt x="1700149" y="530322"/>
                    <a:pt x="1684335" y="530322"/>
                  </a:cubicBezTo>
                  <a:lnTo>
                    <a:pt x="59629" y="530322"/>
                  </a:lnTo>
                  <a:cubicBezTo>
                    <a:pt x="26697" y="530322"/>
                    <a:pt x="0" y="503626"/>
                    <a:pt x="0" y="470694"/>
                  </a:cubicBezTo>
                  <a:lnTo>
                    <a:pt x="0" y="59629"/>
                  </a:lnTo>
                  <a:cubicBezTo>
                    <a:pt x="0" y="43814"/>
                    <a:pt x="6282" y="28647"/>
                    <a:pt x="17465" y="17465"/>
                  </a:cubicBezTo>
                  <a:cubicBezTo>
                    <a:pt x="28647" y="6282"/>
                    <a:pt x="43814" y="0"/>
                    <a:pt x="59629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43963" cy="56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947993" y="1672676"/>
            <a:ext cx="6621610" cy="2013568"/>
            <a:chOff x="0" y="0"/>
            <a:chExt cx="1743963" cy="5303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43963" cy="530322"/>
            </a:xfrm>
            <a:custGeom>
              <a:avLst/>
              <a:gdLst/>
              <a:ahLst/>
              <a:cxnLst/>
              <a:rect l="l" t="t" r="r" b="b"/>
              <a:pathLst>
                <a:path w="1743963" h="530322">
                  <a:moveTo>
                    <a:pt x="59629" y="0"/>
                  </a:moveTo>
                  <a:lnTo>
                    <a:pt x="1684335" y="0"/>
                  </a:lnTo>
                  <a:cubicBezTo>
                    <a:pt x="1700149" y="0"/>
                    <a:pt x="1715316" y="6282"/>
                    <a:pt x="1726498" y="17465"/>
                  </a:cubicBezTo>
                  <a:cubicBezTo>
                    <a:pt x="1737681" y="28647"/>
                    <a:pt x="1743963" y="43814"/>
                    <a:pt x="1743963" y="59629"/>
                  </a:cubicBezTo>
                  <a:lnTo>
                    <a:pt x="1743963" y="470694"/>
                  </a:lnTo>
                  <a:cubicBezTo>
                    <a:pt x="1743963" y="486508"/>
                    <a:pt x="1737681" y="501675"/>
                    <a:pt x="1726498" y="512858"/>
                  </a:cubicBezTo>
                  <a:cubicBezTo>
                    <a:pt x="1715316" y="524040"/>
                    <a:pt x="1700149" y="530322"/>
                    <a:pt x="1684335" y="530322"/>
                  </a:cubicBezTo>
                  <a:lnTo>
                    <a:pt x="59629" y="530322"/>
                  </a:lnTo>
                  <a:cubicBezTo>
                    <a:pt x="26697" y="530322"/>
                    <a:pt x="0" y="503626"/>
                    <a:pt x="0" y="470694"/>
                  </a:cubicBezTo>
                  <a:lnTo>
                    <a:pt x="0" y="59629"/>
                  </a:lnTo>
                  <a:cubicBezTo>
                    <a:pt x="0" y="43814"/>
                    <a:pt x="6282" y="28647"/>
                    <a:pt x="17465" y="17465"/>
                  </a:cubicBezTo>
                  <a:cubicBezTo>
                    <a:pt x="28647" y="6282"/>
                    <a:pt x="43814" y="0"/>
                    <a:pt x="59629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43963" cy="5684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94740" y="4342498"/>
            <a:ext cx="6809909" cy="3656011"/>
          </a:xfrm>
          <a:custGeom>
            <a:avLst/>
            <a:gdLst/>
            <a:ahLst/>
            <a:cxnLst/>
            <a:rect l="l" t="t" r="r" b="b"/>
            <a:pathLst>
              <a:path w="6809909" h="3656011">
                <a:moveTo>
                  <a:pt x="0" y="0"/>
                </a:moveTo>
                <a:lnTo>
                  <a:pt x="6809910" y="0"/>
                </a:lnTo>
                <a:lnTo>
                  <a:pt x="6809910" y="3656011"/>
                </a:lnTo>
                <a:lnTo>
                  <a:pt x="0" y="3656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Freeform 9"/>
          <p:cNvSpPr/>
          <p:nvPr/>
        </p:nvSpPr>
        <p:spPr>
          <a:xfrm>
            <a:off x="9684175" y="4754063"/>
            <a:ext cx="4281207" cy="2530783"/>
          </a:xfrm>
          <a:custGeom>
            <a:avLst/>
            <a:gdLst/>
            <a:ahLst/>
            <a:cxnLst/>
            <a:rect l="l" t="t" r="r" b="b"/>
            <a:pathLst>
              <a:path w="4281207" h="2530783">
                <a:moveTo>
                  <a:pt x="0" y="0"/>
                </a:moveTo>
                <a:lnTo>
                  <a:pt x="4281207" y="0"/>
                </a:lnTo>
                <a:lnTo>
                  <a:pt x="4281207" y="2530783"/>
                </a:lnTo>
                <a:lnTo>
                  <a:pt x="0" y="2530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2189" r="-195752" b="-53845"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Freeform 10"/>
          <p:cNvSpPr/>
          <p:nvPr/>
        </p:nvSpPr>
        <p:spPr>
          <a:xfrm>
            <a:off x="14724808" y="4754063"/>
            <a:ext cx="2534492" cy="2534492"/>
          </a:xfrm>
          <a:custGeom>
            <a:avLst/>
            <a:gdLst/>
            <a:ahLst/>
            <a:cxnLst/>
            <a:rect l="l" t="t" r="r" b="b"/>
            <a:pathLst>
              <a:path w="2534492" h="2534492">
                <a:moveTo>
                  <a:pt x="0" y="0"/>
                </a:moveTo>
                <a:lnTo>
                  <a:pt x="2534492" y="0"/>
                </a:lnTo>
                <a:lnTo>
                  <a:pt x="2534492" y="2534492"/>
                </a:lnTo>
                <a:lnTo>
                  <a:pt x="0" y="2534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TextBox 11"/>
          <p:cNvSpPr txBox="1"/>
          <p:nvPr/>
        </p:nvSpPr>
        <p:spPr>
          <a:xfrm>
            <a:off x="1474943" y="2020330"/>
            <a:ext cx="6437803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Adaptación al contexto macroeconómico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39897" y="2020330"/>
            <a:ext cx="6437803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Optimización temporal de las campañas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0731" y="662450"/>
            <a:ext cx="4475586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Recomendaciones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2627673" y="1861995"/>
            <a:ext cx="6875534" cy="6563010"/>
          </a:xfrm>
          <a:custGeom>
            <a:avLst/>
            <a:gdLst/>
            <a:ahLst/>
            <a:cxnLst/>
            <a:rect l="l" t="t" r="r" b="b"/>
            <a:pathLst>
              <a:path w="6875534" h="6563010">
                <a:moveTo>
                  <a:pt x="6875534" y="6563010"/>
                </a:moveTo>
                <a:lnTo>
                  <a:pt x="0" y="6563010"/>
                </a:lnTo>
                <a:lnTo>
                  <a:pt x="0" y="0"/>
                </a:lnTo>
                <a:lnTo>
                  <a:pt x="6875534" y="0"/>
                </a:lnTo>
                <a:lnTo>
                  <a:pt x="6875534" y="656301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4616595" y="2880632"/>
            <a:ext cx="2897691" cy="1007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2"/>
              </a:lnSpc>
            </a:pPr>
            <a:r>
              <a:rPr lang="en-US" sz="291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Ecosistema </a:t>
            </a:r>
          </a:p>
          <a:p>
            <a:pPr algn="ctr">
              <a:lnSpc>
                <a:spcPts val="4082"/>
              </a:lnSpc>
              <a:spcBef>
                <a:spcPct val="0"/>
              </a:spcBef>
            </a:pPr>
            <a:r>
              <a:rPr lang="en-US" sz="291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cliente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27673" y="5773394"/>
            <a:ext cx="2641959" cy="1107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8"/>
              </a:lnSpc>
            </a:pPr>
            <a:r>
              <a:rPr lang="en-US" sz="316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Ejecución</a:t>
            </a:r>
          </a:p>
          <a:p>
            <a:pPr algn="ctr">
              <a:lnSpc>
                <a:spcPts val="4428"/>
              </a:lnSpc>
              <a:spcBef>
                <a:spcPct val="0"/>
              </a:spcBef>
            </a:pPr>
            <a:r>
              <a:rPr lang="en-US" sz="3163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Operativa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77023" y="5782919"/>
            <a:ext cx="2926184" cy="1558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1"/>
              </a:lnSpc>
            </a:pPr>
            <a:r>
              <a:rPr lang="en-US" sz="296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Entorno</a:t>
            </a:r>
          </a:p>
          <a:p>
            <a:pPr algn="ctr">
              <a:lnSpc>
                <a:spcPts val="4151"/>
              </a:lnSpc>
              <a:spcBef>
                <a:spcPct val="0"/>
              </a:spcBef>
            </a:pPr>
            <a:r>
              <a:rPr lang="en-US" sz="2965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Macro-económico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6065440" y="4428457"/>
            <a:ext cx="5267549" cy="1112398"/>
          </a:xfrm>
          <a:prstGeom prst="line">
            <a:avLst/>
          </a:prstGeom>
          <a:ln w="38100" cap="flat">
            <a:solidFill>
              <a:srgbClr val="512AD5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7" name="Group 7"/>
          <p:cNvGrpSpPr/>
          <p:nvPr/>
        </p:nvGrpSpPr>
        <p:grpSpPr>
          <a:xfrm>
            <a:off x="10976121" y="3316059"/>
            <a:ext cx="5117078" cy="2224796"/>
            <a:chOff x="0" y="0"/>
            <a:chExt cx="1347708" cy="5859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47708" cy="585955"/>
            </a:xfrm>
            <a:custGeom>
              <a:avLst/>
              <a:gdLst/>
              <a:ahLst/>
              <a:cxnLst/>
              <a:rect l="l" t="t" r="r" b="b"/>
              <a:pathLst>
                <a:path w="1347708" h="585955">
                  <a:moveTo>
                    <a:pt x="77161" y="0"/>
                  </a:moveTo>
                  <a:lnTo>
                    <a:pt x="1270547" y="0"/>
                  </a:lnTo>
                  <a:cubicBezTo>
                    <a:pt x="1313162" y="0"/>
                    <a:pt x="1347708" y="34546"/>
                    <a:pt x="1347708" y="77161"/>
                  </a:cubicBezTo>
                  <a:lnTo>
                    <a:pt x="1347708" y="508794"/>
                  </a:lnTo>
                  <a:cubicBezTo>
                    <a:pt x="1347708" y="551408"/>
                    <a:pt x="1313162" y="585955"/>
                    <a:pt x="1270547" y="585955"/>
                  </a:cubicBezTo>
                  <a:lnTo>
                    <a:pt x="77161" y="585955"/>
                  </a:lnTo>
                  <a:cubicBezTo>
                    <a:pt x="34546" y="585955"/>
                    <a:pt x="0" y="551408"/>
                    <a:pt x="0" y="508794"/>
                  </a:cubicBezTo>
                  <a:lnTo>
                    <a:pt x="0" y="77161"/>
                  </a:lnTo>
                  <a:cubicBezTo>
                    <a:pt x="0" y="34546"/>
                    <a:pt x="34546" y="0"/>
                    <a:pt x="77161" y="0"/>
                  </a:cubicBezTo>
                  <a:close/>
                </a:path>
              </a:pathLst>
            </a:custGeom>
            <a:solidFill>
              <a:srgbClr val="512AD5"/>
            </a:solidFill>
          </p:spPr>
          <p:txBody>
            <a:bodyPr/>
            <a:lstStyle/>
            <a:p>
              <a:endParaRPr lang="es-E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47708" cy="624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332989" y="3465514"/>
            <a:ext cx="4403341" cy="183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1"/>
              </a:lnSpc>
              <a:spcBef>
                <a:spcPct val="0"/>
              </a:spcBef>
            </a:pPr>
            <a:r>
              <a:rPr lang="en-US" sz="5272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Éxito Predictible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0731" y="662450"/>
            <a:ext cx="4475586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Recomendaciones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1997" y="662450"/>
            <a:ext cx="802084" cy="65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F0C9BDF-1FA7-6BE1-998C-775A42F174E5}"/>
              </a:ext>
            </a:extLst>
          </p:cNvPr>
          <p:cNvSpPr/>
          <p:nvPr/>
        </p:nvSpPr>
        <p:spPr>
          <a:xfrm>
            <a:off x="2781300" y="3937094"/>
            <a:ext cx="12725400" cy="2224796"/>
          </a:xfrm>
          <a:custGeom>
            <a:avLst/>
            <a:gdLst/>
            <a:ahLst/>
            <a:cxnLst/>
            <a:rect l="l" t="t" r="r" b="b"/>
            <a:pathLst>
              <a:path w="1347708" h="585955">
                <a:moveTo>
                  <a:pt x="77161" y="0"/>
                </a:moveTo>
                <a:lnTo>
                  <a:pt x="1270547" y="0"/>
                </a:lnTo>
                <a:cubicBezTo>
                  <a:pt x="1313162" y="0"/>
                  <a:pt x="1347708" y="34546"/>
                  <a:pt x="1347708" y="77161"/>
                </a:cubicBezTo>
                <a:lnTo>
                  <a:pt x="1347708" y="508794"/>
                </a:lnTo>
                <a:cubicBezTo>
                  <a:pt x="1347708" y="551408"/>
                  <a:pt x="1313162" y="585955"/>
                  <a:pt x="1270547" y="585955"/>
                </a:cubicBezTo>
                <a:lnTo>
                  <a:pt x="77161" y="585955"/>
                </a:lnTo>
                <a:cubicBezTo>
                  <a:pt x="34546" y="585955"/>
                  <a:pt x="0" y="551408"/>
                  <a:pt x="0" y="508794"/>
                </a:cubicBezTo>
                <a:lnTo>
                  <a:pt x="0" y="77161"/>
                </a:lnTo>
                <a:cubicBezTo>
                  <a:pt x="0" y="34546"/>
                  <a:pt x="34546" y="0"/>
                  <a:pt x="77161" y="0"/>
                </a:cubicBezTo>
                <a:close/>
              </a:path>
            </a:pathLst>
          </a:custGeom>
          <a:solidFill>
            <a:srgbClr val="512AD5"/>
          </a:solidFill>
        </p:spPr>
        <p:txBody>
          <a:bodyPr/>
          <a:lstStyle/>
          <a:p>
            <a:endParaRPr lang="es-ES"/>
          </a:p>
        </p:txBody>
      </p:sp>
      <p:sp>
        <p:nvSpPr>
          <p:cNvPr id="2" name="Freeform 2"/>
          <p:cNvSpPr/>
          <p:nvPr/>
        </p:nvSpPr>
        <p:spPr>
          <a:xfrm>
            <a:off x="1028700" y="549353"/>
            <a:ext cx="1166101" cy="1168225"/>
          </a:xfrm>
          <a:custGeom>
            <a:avLst/>
            <a:gdLst/>
            <a:ahLst/>
            <a:cxnLst/>
            <a:rect l="l" t="t" r="r" b="b"/>
            <a:pathLst>
              <a:path w="1166101" h="1168225">
                <a:moveTo>
                  <a:pt x="0" y="0"/>
                </a:moveTo>
                <a:lnTo>
                  <a:pt x="1166101" y="0"/>
                </a:lnTo>
                <a:lnTo>
                  <a:pt x="1166101" y="1168225"/>
                </a:lnTo>
                <a:lnTo>
                  <a:pt x="0" y="11682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956190" y="4231957"/>
            <a:ext cx="14375620" cy="16350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  <a:spcBef>
                <a:spcPct val="0"/>
              </a:spcBef>
            </a:pPr>
            <a:r>
              <a:rPr lang="en-US" sz="9600" b="1" dirty="0">
                <a:solidFill>
                  <a:srgbClr val="FEFE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¡MUCHAS GRACIAS!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27098" y="9220200"/>
            <a:ext cx="2332202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Marketing Anlytics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94740" y="9220200"/>
            <a:ext cx="2000121" cy="321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1">
                <a:solidFill>
                  <a:srgbClr val="512AD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Empresa Fintech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1194</Words>
  <Application>Microsoft Office PowerPoint</Application>
  <PresentationFormat>Personalizado</PresentationFormat>
  <Paragraphs>376</Paragraphs>
  <Slides>44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52" baseType="lpstr">
      <vt:lpstr>Poppins</vt:lpstr>
      <vt:lpstr>Arial</vt:lpstr>
      <vt:lpstr>Open Sans Bold</vt:lpstr>
      <vt:lpstr>Poppins Semi-Bold</vt:lpstr>
      <vt:lpstr>Open Sans</vt:lpstr>
      <vt:lpstr>Poppins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presentacion_TFM_grupo_1</dc:title>
  <cp:lastModifiedBy>Lucia Moreno Guirado</cp:lastModifiedBy>
  <cp:revision>3</cp:revision>
  <dcterms:created xsi:type="dcterms:W3CDTF">2006-08-16T00:00:00Z</dcterms:created>
  <dcterms:modified xsi:type="dcterms:W3CDTF">2026-04-12T11:40:31Z</dcterms:modified>
  <dc:identifier>DAHGdnCBNBs</dc:identifier>
</cp:coreProperties>
</file>